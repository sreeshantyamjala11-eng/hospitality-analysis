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Canva Sans" panose="020B0604020202020204" charset="0"/>
      <p:regular r:id="rId16"/>
    </p:embeddedFont>
    <p:embeddedFont>
      <p:font typeface="Canva Sans Bold"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ED6AF1-7D94-4037-8014-324D33DB940C}" v="5" dt="2026-02-13T11:40:28.5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3" d="100"/>
          <a:sy n="43" d="100"/>
        </p:scale>
        <p:origin x="108"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pali Sudake" userId="73846a33fc137a16" providerId="LiveId" clId="{C67622E6-1546-45E1-9471-63AA152B03AF}"/>
    <pc:docChg chg="modSld">
      <pc:chgData name="Deepali Sudake" userId="73846a33fc137a16" providerId="LiveId" clId="{C67622E6-1546-45E1-9471-63AA152B03AF}" dt="2026-02-13T11:56:14.246" v="17" actId="20577"/>
      <pc:docMkLst>
        <pc:docMk/>
      </pc:docMkLst>
      <pc:sldChg chg="modSp mod">
        <pc:chgData name="Deepali Sudake" userId="73846a33fc137a16" providerId="LiveId" clId="{C67622E6-1546-45E1-9471-63AA152B03AF}" dt="2026-02-13T11:40:53.234" v="3" actId="14100"/>
        <pc:sldMkLst>
          <pc:docMk/>
          <pc:sldMk cId="0" sldId="256"/>
        </pc:sldMkLst>
        <pc:spChg chg="mod">
          <ac:chgData name="Deepali Sudake" userId="73846a33fc137a16" providerId="LiveId" clId="{C67622E6-1546-45E1-9471-63AA152B03AF}" dt="2026-02-13T11:39:32.281" v="0" actId="14100"/>
          <ac:spMkLst>
            <pc:docMk/>
            <pc:sldMk cId="0" sldId="256"/>
            <ac:spMk id="3" creationId="{00000000-0000-0000-0000-000000000000}"/>
          </ac:spMkLst>
        </pc:spChg>
        <pc:spChg chg="mod">
          <ac:chgData name="Deepali Sudake" userId="73846a33fc137a16" providerId="LiveId" clId="{C67622E6-1546-45E1-9471-63AA152B03AF}" dt="2026-02-13T11:39:41.741" v="2" actId="1076"/>
          <ac:spMkLst>
            <pc:docMk/>
            <pc:sldMk cId="0" sldId="256"/>
            <ac:spMk id="4" creationId="{00000000-0000-0000-0000-000000000000}"/>
          </ac:spMkLst>
        </pc:spChg>
        <pc:spChg chg="mod">
          <ac:chgData name="Deepali Sudake" userId="73846a33fc137a16" providerId="LiveId" clId="{C67622E6-1546-45E1-9471-63AA152B03AF}" dt="2026-02-13T11:40:53.234" v="3" actId="14100"/>
          <ac:spMkLst>
            <pc:docMk/>
            <pc:sldMk cId="0" sldId="256"/>
            <ac:spMk id="5" creationId="{00000000-0000-0000-0000-000000000000}"/>
          </ac:spMkLst>
        </pc:spChg>
      </pc:sldChg>
      <pc:sldChg chg="modSp mod">
        <pc:chgData name="Deepali Sudake" userId="73846a33fc137a16" providerId="LiveId" clId="{C67622E6-1546-45E1-9471-63AA152B03AF}" dt="2026-02-13T11:41:47.344" v="4" actId="14100"/>
        <pc:sldMkLst>
          <pc:docMk/>
          <pc:sldMk cId="0" sldId="258"/>
        </pc:sldMkLst>
        <pc:spChg chg="mod">
          <ac:chgData name="Deepali Sudake" userId="73846a33fc137a16" providerId="LiveId" clId="{C67622E6-1546-45E1-9471-63AA152B03AF}" dt="2026-02-13T11:41:47.344" v="4" actId="14100"/>
          <ac:spMkLst>
            <pc:docMk/>
            <pc:sldMk cId="0" sldId="258"/>
            <ac:spMk id="4" creationId="{00000000-0000-0000-0000-000000000000}"/>
          </ac:spMkLst>
        </pc:spChg>
      </pc:sldChg>
      <pc:sldChg chg="modSp mod">
        <pc:chgData name="Deepali Sudake" userId="73846a33fc137a16" providerId="LiveId" clId="{C67622E6-1546-45E1-9471-63AA152B03AF}" dt="2026-02-13T11:42:03.907" v="5" actId="14100"/>
        <pc:sldMkLst>
          <pc:docMk/>
          <pc:sldMk cId="0" sldId="259"/>
        </pc:sldMkLst>
        <pc:spChg chg="mod">
          <ac:chgData name="Deepali Sudake" userId="73846a33fc137a16" providerId="LiveId" clId="{C67622E6-1546-45E1-9471-63AA152B03AF}" dt="2026-02-13T11:42:03.907" v="5" actId="14100"/>
          <ac:spMkLst>
            <pc:docMk/>
            <pc:sldMk cId="0" sldId="259"/>
            <ac:spMk id="3" creationId="{00000000-0000-0000-0000-000000000000}"/>
          </ac:spMkLst>
        </pc:spChg>
      </pc:sldChg>
      <pc:sldChg chg="modSp mod">
        <pc:chgData name="Deepali Sudake" userId="73846a33fc137a16" providerId="LiveId" clId="{C67622E6-1546-45E1-9471-63AA152B03AF}" dt="2026-02-13T11:42:18.013" v="6" actId="14100"/>
        <pc:sldMkLst>
          <pc:docMk/>
          <pc:sldMk cId="0" sldId="260"/>
        </pc:sldMkLst>
        <pc:spChg chg="mod">
          <ac:chgData name="Deepali Sudake" userId="73846a33fc137a16" providerId="LiveId" clId="{C67622E6-1546-45E1-9471-63AA152B03AF}" dt="2026-02-13T11:42:18.013" v="6" actId="14100"/>
          <ac:spMkLst>
            <pc:docMk/>
            <pc:sldMk cId="0" sldId="260"/>
            <ac:spMk id="4" creationId="{00000000-0000-0000-0000-000000000000}"/>
          </ac:spMkLst>
        </pc:spChg>
      </pc:sldChg>
      <pc:sldChg chg="modSp mod">
        <pc:chgData name="Deepali Sudake" userId="73846a33fc137a16" providerId="LiveId" clId="{C67622E6-1546-45E1-9471-63AA152B03AF}" dt="2026-02-13T11:42:30.054" v="7" actId="14100"/>
        <pc:sldMkLst>
          <pc:docMk/>
          <pc:sldMk cId="0" sldId="261"/>
        </pc:sldMkLst>
        <pc:spChg chg="mod">
          <ac:chgData name="Deepali Sudake" userId="73846a33fc137a16" providerId="LiveId" clId="{C67622E6-1546-45E1-9471-63AA152B03AF}" dt="2026-02-13T11:42:30.054" v="7" actId="14100"/>
          <ac:spMkLst>
            <pc:docMk/>
            <pc:sldMk cId="0" sldId="261"/>
            <ac:spMk id="3" creationId="{00000000-0000-0000-0000-000000000000}"/>
          </ac:spMkLst>
        </pc:spChg>
      </pc:sldChg>
      <pc:sldChg chg="modSp mod">
        <pc:chgData name="Deepali Sudake" userId="73846a33fc137a16" providerId="LiveId" clId="{C67622E6-1546-45E1-9471-63AA152B03AF}" dt="2026-02-13T11:42:37.427" v="8" actId="14100"/>
        <pc:sldMkLst>
          <pc:docMk/>
          <pc:sldMk cId="0" sldId="262"/>
        </pc:sldMkLst>
        <pc:spChg chg="mod">
          <ac:chgData name="Deepali Sudake" userId="73846a33fc137a16" providerId="LiveId" clId="{C67622E6-1546-45E1-9471-63AA152B03AF}" dt="2026-02-13T11:42:37.427" v="8" actId="14100"/>
          <ac:spMkLst>
            <pc:docMk/>
            <pc:sldMk cId="0" sldId="262"/>
            <ac:spMk id="3" creationId="{00000000-0000-0000-0000-000000000000}"/>
          </ac:spMkLst>
        </pc:spChg>
      </pc:sldChg>
      <pc:sldChg chg="modSp mod">
        <pc:chgData name="Deepali Sudake" userId="73846a33fc137a16" providerId="LiveId" clId="{C67622E6-1546-45E1-9471-63AA152B03AF}" dt="2026-02-13T11:56:14.246" v="17" actId="20577"/>
        <pc:sldMkLst>
          <pc:docMk/>
          <pc:sldMk cId="0" sldId="263"/>
        </pc:sldMkLst>
        <pc:spChg chg="mod">
          <ac:chgData name="Deepali Sudake" userId="73846a33fc137a16" providerId="LiveId" clId="{C67622E6-1546-45E1-9471-63AA152B03AF}" dt="2026-02-13T11:56:14.246" v="17" actId="20577"/>
          <ac:spMkLst>
            <pc:docMk/>
            <pc:sldMk cId="0" sldId="263"/>
            <ac:spMk id="3" creationId="{00000000-0000-0000-0000-000000000000}"/>
          </ac:spMkLst>
        </pc:spChg>
      </pc:sldChg>
      <pc:sldChg chg="modSp mod">
        <pc:chgData name="Deepali Sudake" userId="73846a33fc137a16" providerId="LiveId" clId="{C67622E6-1546-45E1-9471-63AA152B03AF}" dt="2026-02-13T11:42:57.964" v="10" actId="14100"/>
        <pc:sldMkLst>
          <pc:docMk/>
          <pc:sldMk cId="0" sldId="264"/>
        </pc:sldMkLst>
        <pc:spChg chg="mod">
          <ac:chgData name="Deepali Sudake" userId="73846a33fc137a16" providerId="LiveId" clId="{C67622E6-1546-45E1-9471-63AA152B03AF}" dt="2026-02-13T11:42:57.964" v="10" actId="14100"/>
          <ac:spMkLst>
            <pc:docMk/>
            <pc:sldMk cId="0" sldId="264"/>
            <ac:spMk id="3" creationId="{00000000-0000-0000-0000-000000000000}"/>
          </ac:spMkLst>
        </pc:spChg>
      </pc:sldChg>
      <pc:sldChg chg="modSp mod">
        <pc:chgData name="Deepali Sudake" userId="73846a33fc137a16" providerId="LiveId" clId="{C67622E6-1546-45E1-9471-63AA152B03AF}" dt="2026-02-13T11:43:29.814" v="12" actId="20577"/>
        <pc:sldMkLst>
          <pc:docMk/>
          <pc:sldMk cId="0" sldId="265"/>
        </pc:sldMkLst>
        <pc:spChg chg="mod">
          <ac:chgData name="Deepali Sudake" userId="73846a33fc137a16" providerId="LiveId" clId="{C67622E6-1546-45E1-9471-63AA152B03AF}" dt="2026-02-13T11:43:26.580" v="11" actId="14100"/>
          <ac:spMkLst>
            <pc:docMk/>
            <pc:sldMk cId="0" sldId="265"/>
            <ac:spMk id="5" creationId="{00000000-0000-0000-0000-000000000000}"/>
          </ac:spMkLst>
        </pc:spChg>
        <pc:spChg chg="mod">
          <ac:chgData name="Deepali Sudake" userId="73846a33fc137a16" providerId="LiveId" clId="{C67622E6-1546-45E1-9471-63AA152B03AF}" dt="2026-02-13T11:43:29.814" v="12" actId="20577"/>
          <ac:spMkLst>
            <pc:docMk/>
            <pc:sldMk cId="0" sldId="265"/>
            <ac:spMk id="6" creationId="{00000000-0000-0000-0000-000000000000}"/>
          </ac:spMkLst>
        </pc:spChg>
      </pc:sldChg>
      <pc:sldChg chg="modSp mod">
        <pc:chgData name="Deepali Sudake" userId="73846a33fc137a16" providerId="LiveId" clId="{C67622E6-1546-45E1-9471-63AA152B03AF}" dt="2026-02-13T11:43:43.694" v="13" actId="14100"/>
        <pc:sldMkLst>
          <pc:docMk/>
          <pc:sldMk cId="0" sldId="267"/>
        </pc:sldMkLst>
        <pc:spChg chg="mod">
          <ac:chgData name="Deepali Sudake" userId="73846a33fc137a16" providerId="LiveId" clId="{C67622E6-1546-45E1-9471-63AA152B03AF}" dt="2026-02-13T11:43:43.694" v="13" actId="14100"/>
          <ac:spMkLst>
            <pc:docMk/>
            <pc:sldMk cId="0" sldId="267"/>
            <ac:spMk id="4" creationId="{00000000-0000-0000-0000-000000000000}"/>
          </ac:spMkLst>
        </pc:spChg>
      </pc:sldChg>
      <pc:sldChg chg="modSp mod">
        <pc:chgData name="Deepali Sudake" userId="73846a33fc137a16" providerId="LiveId" clId="{C67622E6-1546-45E1-9471-63AA152B03AF}" dt="2026-02-13T11:43:50.690" v="14" actId="14100"/>
        <pc:sldMkLst>
          <pc:docMk/>
          <pc:sldMk cId="0" sldId="268"/>
        </pc:sldMkLst>
        <pc:spChg chg="mod">
          <ac:chgData name="Deepali Sudake" userId="73846a33fc137a16" providerId="LiveId" clId="{C67622E6-1546-45E1-9471-63AA152B03AF}" dt="2026-02-13T11:43:50.690" v="14" actId="14100"/>
          <ac:spMkLst>
            <pc:docMk/>
            <pc:sldMk cId="0" sldId="268"/>
            <ac:spMk id="3" creationId="{00000000-0000-0000-0000-000000000000}"/>
          </ac:spMkLst>
        </pc:spChg>
      </pc:sldChg>
      <pc:sldChg chg="modSp mod">
        <pc:chgData name="Deepali Sudake" userId="73846a33fc137a16" providerId="LiveId" clId="{C67622E6-1546-45E1-9471-63AA152B03AF}" dt="2026-02-13T11:44:46.708" v="16" actId="1076"/>
        <pc:sldMkLst>
          <pc:docMk/>
          <pc:sldMk cId="0" sldId="269"/>
        </pc:sldMkLst>
        <pc:spChg chg="mod">
          <ac:chgData name="Deepali Sudake" userId="73846a33fc137a16" providerId="LiveId" clId="{C67622E6-1546-45E1-9471-63AA152B03AF}" dt="2026-02-13T11:44:32.223" v="15" actId="14100"/>
          <ac:spMkLst>
            <pc:docMk/>
            <pc:sldMk cId="0" sldId="269"/>
            <ac:spMk id="3" creationId="{00000000-0000-0000-0000-000000000000}"/>
          </ac:spMkLst>
        </pc:spChg>
        <pc:spChg chg="mod">
          <ac:chgData name="Deepali Sudake" userId="73846a33fc137a16" providerId="LiveId" clId="{C67622E6-1546-45E1-9471-63AA152B03AF}" dt="2026-02-13T11:44:46.708" v="16" actId="1076"/>
          <ac:spMkLst>
            <pc:docMk/>
            <pc:sldMk cId="0" sldId="269"/>
            <ac:spMk id="4"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4EDF4"/>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7681" b="-10836"/>
            </a:stretch>
          </a:blipFill>
        </p:spPr>
        <p:txBody>
          <a:bodyPr/>
          <a:lstStyle/>
          <a:p>
            <a:endParaRPr lang="en-IN"/>
          </a:p>
        </p:txBody>
      </p:sp>
      <p:sp>
        <p:nvSpPr>
          <p:cNvPr id="3" name="TextBox 3"/>
          <p:cNvSpPr txBox="1"/>
          <p:nvPr/>
        </p:nvSpPr>
        <p:spPr>
          <a:xfrm>
            <a:off x="6222904" y="54795"/>
            <a:ext cx="7721696" cy="3195319"/>
          </a:xfrm>
          <a:prstGeom prst="rect">
            <a:avLst/>
          </a:prstGeom>
        </p:spPr>
        <p:txBody>
          <a:bodyPr wrap="square" lIns="0" tIns="0" rIns="0" bIns="0" rtlCol="0" anchor="t">
            <a:spAutoFit/>
          </a:bodyPr>
          <a:lstStyle/>
          <a:p>
            <a:pPr algn="ctr">
              <a:lnSpc>
                <a:spcPts val="12880"/>
              </a:lnSpc>
            </a:pPr>
            <a:r>
              <a:rPr lang="en-US" sz="9200" b="1" dirty="0">
                <a:solidFill>
                  <a:srgbClr val="000000"/>
                </a:solidFill>
                <a:latin typeface="Canva Sans Bold"/>
                <a:ea typeface="Canva Sans Bold"/>
                <a:cs typeface="Canva Sans Bold"/>
                <a:sym typeface="Canva Sans Bold"/>
              </a:rPr>
              <a:t>Hospitality</a:t>
            </a:r>
          </a:p>
          <a:p>
            <a:pPr algn="ctr">
              <a:lnSpc>
                <a:spcPts val="12880"/>
              </a:lnSpc>
            </a:pPr>
            <a:r>
              <a:rPr lang="en-US" sz="9200" b="1" dirty="0">
                <a:solidFill>
                  <a:srgbClr val="000000"/>
                </a:solidFill>
                <a:latin typeface="Canva Sans Bold"/>
                <a:ea typeface="Canva Sans Bold"/>
                <a:cs typeface="Canva Sans Bold"/>
                <a:sym typeface="Canva Sans Bold"/>
              </a:rPr>
              <a:t>Analysis </a:t>
            </a:r>
          </a:p>
        </p:txBody>
      </p:sp>
      <p:sp>
        <p:nvSpPr>
          <p:cNvPr id="4" name="TextBox 4"/>
          <p:cNvSpPr txBox="1"/>
          <p:nvPr/>
        </p:nvSpPr>
        <p:spPr>
          <a:xfrm>
            <a:off x="11173082" y="3304909"/>
            <a:ext cx="4031690" cy="887095"/>
          </a:xfrm>
          <a:prstGeom prst="rect">
            <a:avLst/>
          </a:prstGeom>
        </p:spPr>
        <p:txBody>
          <a:bodyPr wrap="square" lIns="0" tIns="0" rIns="0" bIns="0" rtlCol="0" anchor="t">
            <a:spAutoFit/>
          </a:bodyPr>
          <a:lstStyle/>
          <a:p>
            <a:pPr algn="ctr">
              <a:lnSpc>
                <a:spcPts val="7279"/>
              </a:lnSpc>
            </a:pPr>
            <a:r>
              <a:rPr lang="en-US" sz="5199" dirty="0">
                <a:solidFill>
                  <a:srgbClr val="000000"/>
                </a:solidFill>
                <a:latin typeface="Canva Sans"/>
                <a:ea typeface="Canva Sans"/>
                <a:cs typeface="Canva Sans"/>
                <a:sym typeface="Canva Sans"/>
              </a:rPr>
              <a:t>Group-2</a:t>
            </a:r>
          </a:p>
        </p:txBody>
      </p:sp>
      <p:sp>
        <p:nvSpPr>
          <p:cNvPr id="5" name="TextBox 5"/>
          <p:cNvSpPr txBox="1"/>
          <p:nvPr/>
        </p:nvSpPr>
        <p:spPr>
          <a:xfrm>
            <a:off x="10568658" y="4374401"/>
            <a:ext cx="6347741" cy="4267515"/>
          </a:xfrm>
          <a:prstGeom prst="rect">
            <a:avLst/>
          </a:prstGeom>
        </p:spPr>
        <p:txBody>
          <a:bodyPr wrap="square" lIns="0" tIns="0" rIns="0" bIns="0" rtlCol="0" anchor="t">
            <a:spAutoFit/>
          </a:bodyPr>
          <a:lstStyle/>
          <a:p>
            <a:pPr algn="ctr">
              <a:lnSpc>
                <a:spcPts val="4759"/>
              </a:lnSpc>
            </a:pPr>
            <a:r>
              <a:rPr lang="en-US" sz="3399" dirty="0">
                <a:solidFill>
                  <a:srgbClr val="000000"/>
                </a:solidFill>
                <a:latin typeface="Canva Sans"/>
                <a:ea typeface="Canva Sans"/>
                <a:cs typeface="Canva Sans"/>
                <a:sym typeface="Canva Sans"/>
              </a:rPr>
              <a:t>Deepali Rajkumar Sudake</a:t>
            </a:r>
          </a:p>
          <a:p>
            <a:pPr algn="ctr">
              <a:lnSpc>
                <a:spcPts val="4759"/>
              </a:lnSpc>
            </a:pPr>
            <a:r>
              <a:rPr lang="en-US" sz="3399" dirty="0">
                <a:solidFill>
                  <a:srgbClr val="000000"/>
                </a:solidFill>
                <a:latin typeface="Canva Sans"/>
                <a:ea typeface="Canva Sans"/>
                <a:cs typeface="Canva Sans"/>
                <a:sym typeface="Canva Sans"/>
              </a:rPr>
              <a:t>Vaitheeswaran R</a:t>
            </a:r>
          </a:p>
          <a:p>
            <a:pPr algn="ctr">
              <a:lnSpc>
                <a:spcPts val="4759"/>
              </a:lnSpc>
            </a:pPr>
            <a:r>
              <a:rPr lang="en-US" sz="3399" dirty="0">
                <a:solidFill>
                  <a:srgbClr val="000000"/>
                </a:solidFill>
                <a:latin typeface="Canva Sans"/>
                <a:ea typeface="Canva Sans"/>
                <a:cs typeface="Canva Sans"/>
                <a:sym typeface="Canva Sans"/>
              </a:rPr>
              <a:t>Mothiga Sri G</a:t>
            </a:r>
          </a:p>
          <a:p>
            <a:pPr algn="ctr">
              <a:lnSpc>
                <a:spcPts val="4759"/>
              </a:lnSpc>
            </a:pPr>
            <a:r>
              <a:rPr lang="en-US" sz="3399" dirty="0">
                <a:solidFill>
                  <a:srgbClr val="000000"/>
                </a:solidFill>
                <a:latin typeface="Canva Sans"/>
                <a:ea typeface="Canva Sans"/>
                <a:cs typeface="Canva Sans"/>
                <a:sym typeface="Canva Sans"/>
              </a:rPr>
              <a:t>Rafeeh k</a:t>
            </a:r>
          </a:p>
          <a:p>
            <a:pPr algn="ctr">
              <a:lnSpc>
                <a:spcPts val="4759"/>
              </a:lnSpc>
            </a:pPr>
            <a:r>
              <a:rPr lang="en-US" sz="3399" dirty="0">
                <a:solidFill>
                  <a:srgbClr val="000000"/>
                </a:solidFill>
                <a:latin typeface="Canva Sans"/>
                <a:ea typeface="Canva Sans"/>
                <a:cs typeface="Canva Sans"/>
                <a:sym typeface="Canva Sans"/>
              </a:rPr>
              <a:t>Battala Sasikala</a:t>
            </a:r>
          </a:p>
          <a:p>
            <a:pPr algn="ctr">
              <a:lnSpc>
                <a:spcPts val="4759"/>
              </a:lnSpc>
            </a:pPr>
            <a:r>
              <a:rPr lang="en-US" sz="3399" dirty="0">
                <a:solidFill>
                  <a:srgbClr val="000000"/>
                </a:solidFill>
                <a:latin typeface="Canva Sans"/>
                <a:ea typeface="Canva Sans"/>
                <a:cs typeface="Canva Sans"/>
                <a:sym typeface="Canva Sans"/>
              </a:rPr>
              <a:t>Rucha Siddharth Pokale</a:t>
            </a:r>
          </a:p>
          <a:p>
            <a:pPr algn="ctr">
              <a:lnSpc>
                <a:spcPts val="4759"/>
              </a:lnSpc>
            </a:pPr>
            <a:r>
              <a:rPr lang="en-US" sz="3399" dirty="0">
                <a:solidFill>
                  <a:srgbClr val="000000"/>
                </a:solidFill>
                <a:latin typeface="Canva Sans"/>
                <a:ea typeface="Canva Sans"/>
                <a:cs typeface="Canva Sans"/>
                <a:sym typeface="Canva Sans"/>
              </a:rPr>
              <a:t>Y Sreeshant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4EDF4"/>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7173" b="-11344"/>
            </a:stretch>
          </a:blipFill>
        </p:spPr>
        <p:txBody>
          <a:bodyPr/>
          <a:lstStyle/>
          <a:p>
            <a:endParaRPr lang="en-IN"/>
          </a:p>
        </p:txBody>
      </p:sp>
      <p:sp>
        <p:nvSpPr>
          <p:cNvPr id="3" name="TextBox 3"/>
          <p:cNvSpPr txBox="1"/>
          <p:nvPr/>
        </p:nvSpPr>
        <p:spPr>
          <a:xfrm>
            <a:off x="7529388" y="141605"/>
            <a:ext cx="2584252" cy="887095"/>
          </a:xfrm>
          <a:prstGeom prst="rect">
            <a:avLst/>
          </a:prstGeom>
        </p:spPr>
        <p:txBody>
          <a:bodyPr lIns="0" tIns="0" rIns="0" bIns="0" rtlCol="0" anchor="t">
            <a:spAutoFit/>
          </a:bodyPr>
          <a:lstStyle/>
          <a:p>
            <a:pPr algn="ctr">
              <a:lnSpc>
                <a:spcPts val="7279"/>
              </a:lnSpc>
            </a:pPr>
            <a:r>
              <a:rPr lang="en-US" sz="5199" b="1">
                <a:solidFill>
                  <a:srgbClr val="000000"/>
                </a:solidFill>
                <a:latin typeface="Canva Sans Bold"/>
                <a:ea typeface="Canva Sans Bold"/>
                <a:cs typeface="Canva Sans Bold"/>
                <a:sym typeface="Canva Sans Bold"/>
              </a:rPr>
              <a:t>Agenda </a:t>
            </a:r>
          </a:p>
        </p:txBody>
      </p:sp>
      <p:sp>
        <p:nvSpPr>
          <p:cNvPr id="4" name="TextBox 4"/>
          <p:cNvSpPr txBox="1"/>
          <p:nvPr/>
        </p:nvSpPr>
        <p:spPr>
          <a:xfrm>
            <a:off x="7962939" y="1784260"/>
            <a:ext cx="8978354" cy="5837895"/>
          </a:xfrm>
          <a:prstGeom prst="rect">
            <a:avLst/>
          </a:prstGeom>
        </p:spPr>
        <p:txBody>
          <a:bodyPr lIns="0" tIns="0" rIns="0" bIns="0" rtlCol="0" anchor="t">
            <a:spAutoFit/>
          </a:bodyPr>
          <a:lstStyle/>
          <a:p>
            <a:pPr algn="ctr">
              <a:lnSpc>
                <a:spcPts val="5826"/>
              </a:lnSpc>
            </a:pPr>
            <a:r>
              <a:rPr lang="en-US" sz="4161">
                <a:solidFill>
                  <a:srgbClr val="000000"/>
                </a:solidFill>
                <a:latin typeface="Canva Sans"/>
                <a:ea typeface="Canva Sans"/>
                <a:cs typeface="Canva Sans"/>
                <a:sym typeface="Canva Sans"/>
              </a:rPr>
              <a:t>Introduction</a:t>
            </a:r>
          </a:p>
          <a:p>
            <a:pPr algn="ctr">
              <a:lnSpc>
                <a:spcPts val="5826"/>
              </a:lnSpc>
            </a:pPr>
            <a:r>
              <a:rPr lang="en-US" sz="4161">
                <a:solidFill>
                  <a:srgbClr val="000000"/>
                </a:solidFill>
                <a:latin typeface="Canva Sans"/>
                <a:ea typeface="Canva Sans"/>
                <a:cs typeface="Canva Sans"/>
                <a:sym typeface="Canva Sans"/>
              </a:rPr>
              <a:t>Business Objective </a:t>
            </a:r>
          </a:p>
          <a:p>
            <a:pPr algn="ctr">
              <a:lnSpc>
                <a:spcPts val="5826"/>
              </a:lnSpc>
            </a:pPr>
            <a:r>
              <a:rPr lang="en-US" sz="4161">
                <a:solidFill>
                  <a:srgbClr val="000000"/>
                </a:solidFill>
                <a:latin typeface="Canva Sans"/>
                <a:ea typeface="Canva Sans"/>
                <a:cs typeface="Canva Sans"/>
                <a:sym typeface="Canva Sans"/>
              </a:rPr>
              <a:t>DataSet Overview &amp; Tools used</a:t>
            </a:r>
          </a:p>
          <a:p>
            <a:pPr algn="ctr">
              <a:lnSpc>
                <a:spcPts val="5826"/>
              </a:lnSpc>
            </a:pPr>
            <a:r>
              <a:rPr lang="en-US" sz="4161">
                <a:solidFill>
                  <a:srgbClr val="000000"/>
                </a:solidFill>
                <a:latin typeface="Canva Sans"/>
                <a:ea typeface="Canva Sans"/>
                <a:cs typeface="Canva Sans"/>
                <a:sym typeface="Canva Sans"/>
              </a:rPr>
              <a:t>  KPIS</a:t>
            </a:r>
          </a:p>
          <a:p>
            <a:pPr algn="ctr">
              <a:lnSpc>
                <a:spcPts val="5826"/>
              </a:lnSpc>
            </a:pPr>
            <a:r>
              <a:rPr lang="en-US" sz="4161">
                <a:solidFill>
                  <a:srgbClr val="000000"/>
                </a:solidFill>
                <a:latin typeface="Canva Sans"/>
                <a:ea typeface="Canva Sans"/>
                <a:cs typeface="Canva Sans"/>
                <a:sym typeface="Canva Sans"/>
              </a:rPr>
              <a:t>Dashboards</a:t>
            </a:r>
          </a:p>
          <a:p>
            <a:pPr algn="ctr">
              <a:lnSpc>
                <a:spcPts val="5826"/>
              </a:lnSpc>
            </a:pPr>
            <a:r>
              <a:rPr lang="en-US" sz="4161">
                <a:solidFill>
                  <a:srgbClr val="000000"/>
                </a:solidFill>
                <a:latin typeface="Canva Sans"/>
                <a:ea typeface="Canva Sans"/>
                <a:cs typeface="Canva Sans"/>
                <a:sym typeface="Canva Sans"/>
              </a:rPr>
              <a:t>SQL Queries </a:t>
            </a:r>
          </a:p>
          <a:p>
            <a:pPr algn="ctr">
              <a:lnSpc>
                <a:spcPts val="5826"/>
              </a:lnSpc>
            </a:pPr>
            <a:r>
              <a:rPr lang="en-US" sz="4161">
                <a:solidFill>
                  <a:srgbClr val="000000"/>
                </a:solidFill>
                <a:latin typeface="Canva Sans"/>
                <a:ea typeface="Canva Sans"/>
                <a:cs typeface="Canva Sans"/>
                <a:sym typeface="Canva Sans"/>
              </a:rPr>
              <a:t>Key Insights </a:t>
            </a:r>
          </a:p>
          <a:p>
            <a:pPr algn="ctr">
              <a:lnSpc>
                <a:spcPts val="5826"/>
              </a:lnSpc>
            </a:pPr>
            <a:r>
              <a:rPr lang="en-US" sz="4161">
                <a:solidFill>
                  <a:srgbClr val="000000"/>
                </a:solidFill>
                <a:latin typeface="Canva Sans"/>
                <a:ea typeface="Canva Sans"/>
                <a:cs typeface="Canva Sans"/>
                <a:sym typeface="Canva Sans"/>
              </a:rPr>
              <a:t>Recommendations and Conclusion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4EDF4"/>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567202"/>
          </a:xfrm>
          <a:custGeom>
            <a:avLst/>
            <a:gdLst/>
            <a:ahLst/>
            <a:cxnLst/>
            <a:rect l="l" t="t" r="r" b="b"/>
            <a:pathLst>
              <a:path w="18288000" h="10567202">
                <a:moveTo>
                  <a:pt x="0" y="0"/>
                </a:moveTo>
                <a:lnTo>
                  <a:pt x="18288000" y="0"/>
                </a:lnTo>
                <a:lnTo>
                  <a:pt x="18288000" y="10567202"/>
                </a:lnTo>
                <a:lnTo>
                  <a:pt x="0" y="10567202"/>
                </a:lnTo>
                <a:lnTo>
                  <a:pt x="0" y="0"/>
                </a:lnTo>
                <a:close/>
              </a:path>
            </a:pathLst>
          </a:custGeom>
          <a:blipFill>
            <a:blip r:embed="rId2"/>
            <a:stretch>
              <a:fillRect t="-5924" b="-9451"/>
            </a:stretch>
          </a:blipFill>
        </p:spPr>
        <p:txBody>
          <a:bodyPr/>
          <a:lstStyle/>
          <a:p>
            <a:endParaRPr lang="en-IN"/>
          </a:p>
        </p:txBody>
      </p:sp>
      <p:sp>
        <p:nvSpPr>
          <p:cNvPr id="3" name="TextBox 3"/>
          <p:cNvSpPr txBox="1"/>
          <p:nvPr/>
        </p:nvSpPr>
        <p:spPr>
          <a:xfrm>
            <a:off x="9139238" y="4274503"/>
            <a:ext cx="9525" cy="1566544"/>
          </a:xfrm>
          <a:prstGeom prst="rect">
            <a:avLst/>
          </a:prstGeom>
        </p:spPr>
        <p:txBody>
          <a:bodyPr lIns="0" tIns="0" rIns="0" bIns="0" rtlCol="0" anchor="t">
            <a:spAutoFit/>
          </a:bodyPr>
          <a:lstStyle/>
          <a:p>
            <a:pPr algn="ctr">
              <a:lnSpc>
                <a:spcPts val="12880"/>
              </a:lnSpc>
            </a:pPr>
            <a:endParaRPr/>
          </a:p>
        </p:txBody>
      </p:sp>
      <p:sp>
        <p:nvSpPr>
          <p:cNvPr id="4" name="TextBox 4"/>
          <p:cNvSpPr txBox="1"/>
          <p:nvPr/>
        </p:nvSpPr>
        <p:spPr>
          <a:xfrm>
            <a:off x="6492640" y="537527"/>
            <a:ext cx="4784960" cy="887095"/>
          </a:xfrm>
          <a:prstGeom prst="rect">
            <a:avLst/>
          </a:prstGeom>
        </p:spPr>
        <p:txBody>
          <a:bodyPr wrap="square" lIns="0" tIns="0" rIns="0" bIns="0" rtlCol="0" anchor="t">
            <a:spAutoFit/>
          </a:bodyPr>
          <a:lstStyle/>
          <a:p>
            <a:pPr algn="ctr">
              <a:lnSpc>
                <a:spcPts val="7279"/>
              </a:lnSpc>
            </a:pPr>
            <a:r>
              <a:rPr lang="en-US" sz="5199" b="1" dirty="0">
                <a:solidFill>
                  <a:srgbClr val="000000"/>
                </a:solidFill>
                <a:latin typeface="Canva Sans Bold"/>
                <a:ea typeface="Canva Sans Bold"/>
                <a:cs typeface="Canva Sans Bold"/>
                <a:sym typeface="Canva Sans Bold"/>
              </a:rPr>
              <a:t>Introduction</a:t>
            </a:r>
          </a:p>
        </p:txBody>
      </p:sp>
      <p:sp>
        <p:nvSpPr>
          <p:cNvPr id="5" name="TextBox 5"/>
          <p:cNvSpPr txBox="1"/>
          <p:nvPr/>
        </p:nvSpPr>
        <p:spPr>
          <a:xfrm>
            <a:off x="7940128" y="1692349"/>
            <a:ext cx="10022541" cy="5637128"/>
          </a:xfrm>
          <a:prstGeom prst="rect">
            <a:avLst/>
          </a:prstGeom>
        </p:spPr>
        <p:txBody>
          <a:bodyPr lIns="0" tIns="0" rIns="0" bIns="0" rtlCol="0" anchor="t">
            <a:spAutoFit/>
          </a:bodyPr>
          <a:lstStyle/>
          <a:p>
            <a:pPr algn="ctr">
              <a:lnSpc>
                <a:spcPts val="4458"/>
              </a:lnSpc>
            </a:pPr>
            <a:r>
              <a:rPr lang="en-US" sz="3184">
                <a:solidFill>
                  <a:srgbClr val="000000"/>
                </a:solidFill>
                <a:latin typeface="Canva Sans"/>
                <a:ea typeface="Canva Sans"/>
                <a:cs typeface="Canva Sans"/>
                <a:sym typeface="Canva Sans"/>
              </a:rPr>
              <a:t>The hospitality industry runs on tight margins where occupancy, pricing, and customer behavior directly affect profits.</a:t>
            </a:r>
          </a:p>
          <a:p>
            <a:pPr algn="ctr">
              <a:lnSpc>
                <a:spcPts val="4458"/>
              </a:lnSpc>
            </a:pPr>
            <a:r>
              <a:rPr lang="en-US" sz="3184">
                <a:solidFill>
                  <a:srgbClr val="000000"/>
                </a:solidFill>
                <a:latin typeface="Canva Sans"/>
                <a:ea typeface="Canva Sans"/>
                <a:cs typeface="Canva Sans"/>
                <a:sym typeface="Canva Sans"/>
              </a:rPr>
              <a:t>In this project, we analyzed hotel booking data (May–July) to evaluate revenue performance, occupancy efficiency, booking patterns, and revenue loss due to cancellations.</a:t>
            </a:r>
          </a:p>
          <a:p>
            <a:pPr algn="ctr">
              <a:lnSpc>
                <a:spcPts val="4458"/>
              </a:lnSpc>
            </a:pPr>
            <a:r>
              <a:rPr lang="en-US" sz="3184">
                <a:solidFill>
                  <a:srgbClr val="000000"/>
                </a:solidFill>
                <a:latin typeface="Canva Sans"/>
                <a:ea typeface="Canva Sans"/>
                <a:cs typeface="Canva Sans"/>
                <a:sym typeface="Canva Sans"/>
              </a:rPr>
              <a:t>Using Excel, Power BI, and Tableau, we transformed raw data into interactive business dashboards for better decision-making.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4EDF4"/>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523855"/>
          </a:xfrm>
          <a:custGeom>
            <a:avLst/>
            <a:gdLst/>
            <a:ahLst/>
            <a:cxnLst/>
            <a:rect l="l" t="t" r="r" b="b"/>
            <a:pathLst>
              <a:path w="18288000" h="10523855">
                <a:moveTo>
                  <a:pt x="0" y="0"/>
                </a:moveTo>
                <a:lnTo>
                  <a:pt x="18288000" y="0"/>
                </a:lnTo>
                <a:lnTo>
                  <a:pt x="18288000" y="10523855"/>
                </a:lnTo>
                <a:lnTo>
                  <a:pt x="0" y="10523855"/>
                </a:lnTo>
                <a:lnTo>
                  <a:pt x="0" y="0"/>
                </a:lnTo>
                <a:close/>
              </a:path>
            </a:pathLst>
          </a:custGeom>
          <a:blipFill>
            <a:blip r:embed="rId2"/>
            <a:stretch>
              <a:fillRect t="-9694" b="-6156"/>
            </a:stretch>
          </a:blipFill>
        </p:spPr>
        <p:txBody>
          <a:bodyPr/>
          <a:lstStyle/>
          <a:p>
            <a:endParaRPr lang="en-IN"/>
          </a:p>
        </p:txBody>
      </p:sp>
      <p:sp>
        <p:nvSpPr>
          <p:cNvPr id="3" name="TextBox 3"/>
          <p:cNvSpPr txBox="1"/>
          <p:nvPr/>
        </p:nvSpPr>
        <p:spPr>
          <a:xfrm>
            <a:off x="6083274" y="141605"/>
            <a:ext cx="6870725" cy="887095"/>
          </a:xfrm>
          <a:prstGeom prst="rect">
            <a:avLst/>
          </a:prstGeom>
        </p:spPr>
        <p:txBody>
          <a:bodyPr wrap="square" lIns="0" tIns="0" rIns="0" bIns="0" rtlCol="0" anchor="t">
            <a:spAutoFit/>
          </a:bodyPr>
          <a:lstStyle/>
          <a:p>
            <a:pPr algn="ctr">
              <a:lnSpc>
                <a:spcPts val="7279"/>
              </a:lnSpc>
            </a:pPr>
            <a:r>
              <a:rPr lang="en-US" sz="5199" b="1" dirty="0">
                <a:solidFill>
                  <a:srgbClr val="000000"/>
                </a:solidFill>
                <a:latin typeface="Canva Sans Bold"/>
                <a:ea typeface="Canva Sans Bold"/>
                <a:cs typeface="Canva Sans Bold"/>
                <a:sym typeface="Canva Sans Bold"/>
              </a:rPr>
              <a:t>Business Objective</a:t>
            </a:r>
          </a:p>
        </p:txBody>
      </p:sp>
      <p:sp>
        <p:nvSpPr>
          <p:cNvPr id="4" name="TextBox 4"/>
          <p:cNvSpPr txBox="1"/>
          <p:nvPr/>
        </p:nvSpPr>
        <p:spPr>
          <a:xfrm>
            <a:off x="7217358" y="1939858"/>
            <a:ext cx="9638491" cy="5380990"/>
          </a:xfrm>
          <a:prstGeom prst="rect">
            <a:avLst/>
          </a:prstGeom>
        </p:spPr>
        <p:txBody>
          <a:bodyPr lIns="0" tIns="0" rIns="0" bIns="0" rtlCol="0" anchor="t">
            <a:spAutoFit/>
          </a:bodyPr>
          <a:lstStyle/>
          <a:p>
            <a:pPr algn="ctr">
              <a:lnSpc>
                <a:spcPts val="4759"/>
              </a:lnSpc>
            </a:pPr>
            <a:r>
              <a:rPr lang="en-US" sz="3399">
                <a:solidFill>
                  <a:srgbClr val="000000"/>
                </a:solidFill>
                <a:latin typeface="Canva Sans"/>
                <a:ea typeface="Canva Sans"/>
                <a:cs typeface="Canva Sans"/>
                <a:sym typeface="Canva Sans"/>
              </a:rPr>
              <a:t>The core objective was to answer three business questions:</a:t>
            </a:r>
          </a:p>
          <a:p>
            <a:pPr algn="ctr">
              <a:lnSpc>
                <a:spcPts val="4759"/>
              </a:lnSpc>
            </a:pPr>
            <a:endParaRPr lang="en-US" sz="3399">
              <a:solidFill>
                <a:srgbClr val="000000"/>
              </a:solidFill>
              <a:latin typeface="Canva Sans"/>
              <a:ea typeface="Canva Sans"/>
              <a:cs typeface="Canva Sans"/>
              <a:sym typeface="Canva Sans"/>
            </a:endParaRPr>
          </a:p>
          <a:p>
            <a:pPr algn="ctr">
              <a:lnSpc>
                <a:spcPts val="4759"/>
              </a:lnSpc>
            </a:pPr>
            <a:r>
              <a:rPr lang="en-US" sz="3399">
                <a:solidFill>
                  <a:srgbClr val="000000"/>
                </a:solidFill>
                <a:latin typeface="Canva Sans"/>
                <a:ea typeface="Canva Sans"/>
                <a:cs typeface="Canva Sans"/>
                <a:sym typeface="Canva Sans"/>
              </a:rPr>
              <a:t>1.Which properties and cities are driving maximum revenue?</a:t>
            </a:r>
          </a:p>
          <a:p>
            <a:pPr algn="ctr">
              <a:lnSpc>
                <a:spcPts val="4759"/>
              </a:lnSpc>
            </a:pPr>
            <a:r>
              <a:rPr lang="en-US" sz="3399">
                <a:solidFill>
                  <a:srgbClr val="000000"/>
                </a:solidFill>
                <a:latin typeface="Canva Sans"/>
                <a:ea typeface="Canva Sans"/>
                <a:cs typeface="Canva Sans"/>
                <a:sym typeface="Canva Sans"/>
              </a:rPr>
              <a:t>2.Are hotel capacities being utilized efficiently?</a:t>
            </a:r>
          </a:p>
          <a:p>
            <a:pPr algn="ctr">
              <a:lnSpc>
                <a:spcPts val="4759"/>
              </a:lnSpc>
            </a:pPr>
            <a:r>
              <a:rPr lang="en-US" sz="3399">
                <a:solidFill>
                  <a:srgbClr val="000000"/>
                </a:solidFill>
                <a:latin typeface="Canva Sans"/>
                <a:ea typeface="Canva Sans"/>
                <a:cs typeface="Canva Sans"/>
                <a:sym typeface="Canva Sans"/>
              </a:rPr>
              <a:t>3.How much revenue is being lost due to cancellations and no-shows?</a:t>
            </a:r>
          </a:p>
        </p:txBody>
      </p:sp>
      <p:sp>
        <p:nvSpPr>
          <p:cNvPr id="5" name="TextBox 5"/>
          <p:cNvSpPr txBox="1"/>
          <p:nvPr/>
        </p:nvSpPr>
        <p:spPr>
          <a:xfrm>
            <a:off x="1060400" y="7788128"/>
            <a:ext cx="16167199" cy="580390"/>
          </a:xfrm>
          <a:prstGeom prst="rect">
            <a:avLst/>
          </a:prstGeom>
        </p:spPr>
        <p:txBody>
          <a:bodyPr lIns="0" tIns="0" rIns="0" bIns="0" rtlCol="0" anchor="t">
            <a:spAutoFit/>
          </a:bodyPr>
          <a:lstStyle/>
          <a:p>
            <a:pPr algn="ctr">
              <a:lnSpc>
                <a:spcPts val="4759"/>
              </a:lnSpc>
            </a:pPr>
            <a:r>
              <a:rPr lang="en-US" sz="3399">
                <a:solidFill>
                  <a:srgbClr val="000000"/>
                </a:solidFill>
                <a:latin typeface="Canva Sans"/>
                <a:ea typeface="Canva Sans"/>
                <a:cs typeface="Canva Sans"/>
                <a:sym typeface="Canva Sans"/>
              </a:rPr>
              <a:t>The aim was not just visualization, but identifying improvement opportunities.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4EDF4"/>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7451" b="-11066"/>
            </a:stretch>
          </a:blipFill>
        </p:spPr>
        <p:txBody>
          <a:bodyPr/>
          <a:lstStyle/>
          <a:p>
            <a:endParaRPr lang="en-IN"/>
          </a:p>
        </p:txBody>
      </p:sp>
      <p:sp>
        <p:nvSpPr>
          <p:cNvPr id="3" name="TextBox 3"/>
          <p:cNvSpPr txBox="1"/>
          <p:nvPr/>
        </p:nvSpPr>
        <p:spPr>
          <a:xfrm>
            <a:off x="4981649" y="141605"/>
            <a:ext cx="8324701" cy="887095"/>
          </a:xfrm>
          <a:prstGeom prst="rect">
            <a:avLst/>
          </a:prstGeom>
        </p:spPr>
        <p:txBody>
          <a:bodyPr lIns="0" tIns="0" rIns="0" bIns="0" rtlCol="0" anchor="t">
            <a:spAutoFit/>
          </a:bodyPr>
          <a:lstStyle/>
          <a:p>
            <a:pPr algn="ctr">
              <a:lnSpc>
                <a:spcPts val="7279"/>
              </a:lnSpc>
            </a:pPr>
            <a:r>
              <a:rPr lang="en-US" sz="5199" b="1">
                <a:solidFill>
                  <a:srgbClr val="000000"/>
                </a:solidFill>
                <a:latin typeface="Canva Sans Bold"/>
                <a:ea typeface="Canva Sans Bold"/>
                <a:cs typeface="Canva Sans Bold"/>
                <a:sym typeface="Canva Sans Bold"/>
              </a:rPr>
              <a:t>Dataset Overview &amp; Tools </a:t>
            </a:r>
          </a:p>
        </p:txBody>
      </p:sp>
      <p:sp>
        <p:nvSpPr>
          <p:cNvPr id="4" name="TextBox 4"/>
          <p:cNvSpPr txBox="1"/>
          <p:nvPr/>
        </p:nvSpPr>
        <p:spPr>
          <a:xfrm>
            <a:off x="7912280" y="1219517"/>
            <a:ext cx="9918520" cy="7345281"/>
          </a:xfrm>
          <a:prstGeom prst="rect">
            <a:avLst/>
          </a:prstGeom>
        </p:spPr>
        <p:txBody>
          <a:bodyPr wrap="square" lIns="0" tIns="0" rIns="0" bIns="0" rtlCol="0" anchor="t">
            <a:spAutoFit/>
          </a:bodyPr>
          <a:lstStyle/>
          <a:p>
            <a:pPr algn="ctr">
              <a:lnSpc>
                <a:spcPts val="4759"/>
              </a:lnSpc>
            </a:pPr>
            <a:endParaRPr dirty="0"/>
          </a:p>
          <a:p>
            <a:pPr algn="ctr">
              <a:lnSpc>
                <a:spcPts val="4759"/>
              </a:lnSpc>
            </a:pPr>
            <a:r>
              <a:rPr lang="en-US" sz="3399" dirty="0">
                <a:solidFill>
                  <a:srgbClr val="000000"/>
                </a:solidFill>
                <a:latin typeface="Canva Sans"/>
                <a:ea typeface="Canva Sans"/>
                <a:cs typeface="Canva Sans"/>
                <a:sym typeface="Canva Sans"/>
              </a:rPr>
              <a:t>We worked with 5 datasets including:</a:t>
            </a:r>
          </a:p>
          <a:p>
            <a:pPr algn="ctr">
              <a:lnSpc>
                <a:spcPts val="4759"/>
              </a:lnSpc>
            </a:pPr>
            <a:r>
              <a:rPr lang="en-US" sz="3399" dirty="0">
                <a:solidFill>
                  <a:srgbClr val="000000"/>
                </a:solidFill>
                <a:latin typeface="Canva Sans"/>
                <a:ea typeface="Canva Sans"/>
                <a:cs typeface="Canva Sans"/>
                <a:sym typeface="Canva Sans"/>
              </a:rPr>
              <a:t>Hotel details (city, category)</a:t>
            </a:r>
          </a:p>
          <a:p>
            <a:pPr algn="ctr">
              <a:lnSpc>
                <a:spcPts val="4759"/>
              </a:lnSpc>
            </a:pPr>
            <a:r>
              <a:rPr lang="en-US" sz="3399" dirty="0">
                <a:solidFill>
                  <a:srgbClr val="000000"/>
                </a:solidFill>
                <a:latin typeface="Canva Sans"/>
                <a:ea typeface="Canva Sans"/>
                <a:cs typeface="Canva Sans"/>
                <a:sym typeface="Canva Sans"/>
              </a:rPr>
              <a:t>Room categories</a:t>
            </a:r>
          </a:p>
          <a:p>
            <a:pPr algn="ctr">
              <a:lnSpc>
                <a:spcPts val="4759"/>
              </a:lnSpc>
            </a:pPr>
            <a:r>
              <a:rPr lang="en-US" sz="3399" dirty="0">
                <a:solidFill>
                  <a:srgbClr val="000000"/>
                </a:solidFill>
                <a:latin typeface="Canva Sans"/>
                <a:ea typeface="Canva Sans"/>
                <a:cs typeface="Canva Sans"/>
                <a:sym typeface="Canva Sans"/>
              </a:rPr>
              <a:t>Booking transactions</a:t>
            </a:r>
          </a:p>
          <a:p>
            <a:pPr algn="ctr">
              <a:lnSpc>
                <a:spcPts val="4759"/>
              </a:lnSpc>
            </a:pPr>
            <a:r>
              <a:rPr lang="en-US" sz="3399" dirty="0">
                <a:solidFill>
                  <a:srgbClr val="000000"/>
                </a:solidFill>
                <a:latin typeface="Canva Sans"/>
                <a:ea typeface="Canva Sans"/>
                <a:cs typeface="Canva Sans"/>
                <a:sym typeface="Canva Sans"/>
              </a:rPr>
              <a:t>Aggregated booking capacity data</a:t>
            </a:r>
          </a:p>
          <a:p>
            <a:pPr algn="ctr">
              <a:lnSpc>
                <a:spcPts val="4759"/>
              </a:lnSpc>
            </a:pPr>
            <a:r>
              <a:rPr lang="en-US" sz="3399" dirty="0">
                <a:solidFill>
                  <a:srgbClr val="000000"/>
                </a:solidFill>
                <a:latin typeface="Canva Sans"/>
                <a:ea typeface="Canva Sans"/>
                <a:cs typeface="Canva Sans"/>
                <a:sym typeface="Canva Sans"/>
              </a:rPr>
              <a:t>Date dimension (weekend/weekday analysis)</a:t>
            </a:r>
          </a:p>
          <a:p>
            <a:pPr algn="ctr">
              <a:lnSpc>
                <a:spcPts val="4759"/>
              </a:lnSpc>
            </a:pPr>
            <a:endParaRPr lang="en-US" sz="3399" dirty="0">
              <a:solidFill>
                <a:srgbClr val="000000"/>
              </a:solidFill>
              <a:latin typeface="Canva Sans"/>
              <a:ea typeface="Canva Sans"/>
              <a:cs typeface="Canva Sans"/>
              <a:sym typeface="Canva Sans"/>
            </a:endParaRPr>
          </a:p>
          <a:p>
            <a:pPr algn="ctr">
              <a:lnSpc>
                <a:spcPts val="4759"/>
              </a:lnSpc>
            </a:pPr>
            <a:r>
              <a:rPr lang="en-US" sz="3399" dirty="0">
                <a:solidFill>
                  <a:srgbClr val="000000"/>
                </a:solidFill>
                <a:latin typeface="Canva Sans"/>
                <a:ea typeface="Canva Sans"/>
                <a:cs typeface="Canva Sans"/>
                <a:sym typeface="Canva Sans"/>
              </a:rPr>
              <a:t>Excel – Data cleaning &amp; initial KPI calculations</a:t>
            </a:r>
          </a:p>
          <a:p>
            <a:pPr algn="ctr">
              <a:lnSpc>
                <a:spcPts val="4759"/>
              </a:lnSpc>
            </a:pPr>
            <a:r>
              <a:rPr lang="en-US" sz="3399" dirty="0">
                <a:solidFill>
                  <a:srgbClr val="000000"/>
                </a:solidFill>
                <a:latin typeface="Canva Sans"/>
                <a:ea typeface="Canva Sans"/>
                <a:cs typeface="Canva Sans"/>
                <a:sym typeface="Canva Sans"/>
              </a:rPr>
              <a:t> Power BI – Data modeling, DAX measures, dashboard</a:t>
            </a:r>
          </a:p>
          <a:p>
            <a:pPr algn="ctr">
              <a:lnSpc>
                <a:spcPts val="4759"/>
              </a:lnSpc>
            </a:pPr>
            <a:r>
              <a:rPr lang="en-US" sz="3399" dirty="0">
                <a:solidFill>
                  <a:srgbClr val="000000"/>
                </a:solidFill>
                <a:latin typeface="Canva Sans"/>
                <a:ea typeface="Canva Sans"/>
                <a:cs typeface="Canva Sans"/>
                <a:sym typeface="Canva Sans"/>
              </a:rPr>
              <a:t> Tableau – Advanced visual exploration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4EDF4"/>
        </a:solidFill>
        <a:effectLst/>
      </p:bgPr>
    </p:bg>
    <p:spTree>
      <p:nvGrpSpPr>
        <p:cNvPr id="1" name=""/>
        <p:cNvGrpSpPr/>
        <p:nvPr/>
      </p:nvGrpSpPr>
      <p:grpSpPr>
        <a:xfrm>
          <a:off x="0" y="0"/>
          <a:ext cx="0" cy="0"/>
          <a:chOff x="0" y="0"/>
          <a:chExt cx="0" cy="0"/>
        </a:xfrm>
      </p:grpSpPr>
      <p:sp>
        <p:nvSpPr>
          <p:cNvPr id="2" name="Freeform 2"/>
          <p:cNvSpPr/>
          <p:nvPr/>
        </p:nvSpPr>
        <p:spPr>
          <a:xfrm>
            <a:off x="23642" y="-40279"/>
            <a:ext cx="18264358" cy="10327279"/>
          </a:xfrm>
          <a:custGeom>
            <a:avLst/>
            <a:gdLst/>
            <a:ahLst/>
            <a:cxnLst/>
            <a:rect l="l" t="t" r="r" b="b"/>
            <a:pathLst>
              <a:path w="18264358" h="10327279">
                <a:moveTo>
                  <a:pt x="0" y="0"/>
                </a:moveTo>
                <a:lnTo>
                  <a:pt x="18264358" y="0"/>
                </a:lnTo>
                <a:lnTo>
                  <a:pt x="18264358" y="10327279"/>
                </a:lnTo>
                <a:lnTo>
                  <a:pt x="0" y="10327279"/>
                </a:lnTo>
                <a:lnTo>
                  <a:pt x="0" y="0"/>
                </a:lnTo>
                <a:close/>
              </a:path>
            </a:pathLst>
          </a:custGeom>
          <a:blipFill>
            <a:blip r:embed="rId2"/>
            <a:stretch>
              <a:fillRect t="-8951" b="-8951"/>
            </a:stretch>
          </a:blipFill>
        </p:spPr>
        <p:txBody>
          <a:bodyPr/>
          <a:lstStyle/>
          <a:p>
            <a:endParaRPr lang="en-IN"/>
          </a:p>
        </p:txBody>
      </p:sp>
      <p:sp>
        <p:nvSpPr>
          <p:cNvPr id="3" name="TextBox 3"/>
          <p:cNvSpPr txBox="1"/>
          <p:nvPr/>
        </p:nvSpPr>
        <p:spPr>
          <a:xfrm>
            <a:off x="8356550" y="141605"/>
            <a:ext cx="2387650" cy="887095"/>
          </a:xfrm>
          <a:prstGeom prst="rect">
            <a:avLst/>
          </a:prstGeom>
        </p:spPr>
        <p:txBody>
          <a:bodyPr wrap="square" lIns="0" tIns="0" rIns="0" bIns="0" rtlCol="0" anchor="t">
            <a:spAutoFit/>
          </a:bodyPr>
          <a:lstStyle/>
          <a:p>
            <a:pPr algn="ctr">
              <a:lnSpc>
                <a:spcPts val="7279"/>
              </a:lnSpc>
            </a:pPr>
            <a:r>
              <a:rPr lang="en-US" sz="5199" b="1" dirty="0">
                <a:solidFill>
                  <a:srgbClr val="000000"/>
                </a:solidFill>
                <a:latin typeface="Canva Sans Bold"/>
                <a:ea typeface="Canva Sans Bold"/>
                <a:cs typeface="Canva Sans Bold"/>
                <a:sym typeface="Canva Sans Bold"/>
              </a:rPr>
              <a:t>KPI’s</a:t>
            </a:r>
          </a:p>
        </p:txBody>
      </p:sp>
      <p:sp>
        <p:nvSpPr>
          <p:cNvPr id="4" name="TextBox 4"/>
          <p:cNvSpPr txBox="1"/>
          <p:nvPr/>
        </p:nvSpPr>
        <p:spPr>
          <a:xfrm>
            <a:off x="7511287" y="2421282"/>
            <a:ext cx="8548836" cy="5739346"/>
          </a:xfrm>
          <a:prstGeom prst="rect">
            <a:avLst/>
          </a:prstGeom>
        </p:spPr>
        <p:txBody>
          <a:bodyPr lIns="0" tIns="0" rIns="0" bIns="0" rtlCol="0" anchor="t">
            <a:spAutoFit/>
          </a:bodyPr>
          <a:lstStyle/>
          <a:p>
            <a:pPr algn="ctr">
              <a:lnSpc>
                <a:spcPts val="7583"/>
              </a:lnSpc>
            </a:pPr>
            <a:r>
              <a:rPr lang="en-US" sz="5416" b="1">
                <a:solidFill>
                  <a:srgbClr val="000000"/>
                </a:solidFill>
                <a:latin typeface="Canva Sans Bold"/>
                <a:ea typeface="Canva Sans Bold"/>
                <a:cs typeface="Canva Sans Bold"/>
                <a:sym typeface="Canva Sans Bold"/>
              </a:rPr>
              <a:t>Total Revenue-</a:t>
            </a:r>
            <a:r>
              <a:rPr lang="en-US" sz="5416">
                <a:solidFill>
                  <a:srgbClr val="000000"/>
                </a:solidFill>
                <a:latin typeface="Canva Sans"/>
                <a:ea typeface="Canva Sans"/>
                <a:cs typeface="Canva Sans"/>
                <a:sym typeface="Canva Sans"/>
              </a:rPr>
              <a:t>1.708M</a:t>
            </a:r>
          </a:p>
          <a:p>
            <a:pPr algn="ctr">
              <a:lnSpc>
                <a:spcPts val="7583"/>
              </a:lnSpc>
            </a:pPr>
            <a:r>
              <a:rPr lang="en-US" sz="5416" b="1">
                <a:solidFill>
                  <a:srgbClr val="000000"/>
                </a:solidFill>
                <a:latin typeface="Canva Sans Bold"/>
                <a:ea typeface="Canva Sans Bold"/>
                <a:cs typeface="Canva Sans Bold"/>
                <a:sym typeface="Canva Sans Bold"/>
              </a:rPr>
              <a:t>Total Bookings-</a:t>
            </a:r>
            <a:r>
              <a:rPr lang="en-US" sz="5416">
                <a:solidFill>
                  <a:srgbClr val="000000"/>
                </a:solidFill>
                <a:latin typeface="Canva Sans"/>
                <a:ea typeface="Canva Sans"/>
                <a:cs typeface="Canva Sans"/>
                <a:sym typeface="Canva Sans"/>
              </a:rPr>
              <a:t>135k</a:t>
            </a:r>
          </a:p>
          <a:p>
            <a:pPr algn="ctr">
              <a:lnSpc>
                <a:spcPts val="7583"/>
              </a:lnSpc>
            </a:pPr>
            <a:r>
              <a:rPr lang="en-US" sz="5416" b="1">
                <a:solidFill>
                  <a:srgbClr val="000000"/>
                </a:solidFill>
                <a:latin typeface="Canva Sans Bold"/>
                <a:ea typeface="Canva Sans Bold"/>
                <a:cs typeface="Canva Sans Bold"/>
                <a:sym typeface="Canva Sans Bold"/>
              </a:rPr>
              <a:t>Cancellation Rate-</a:t>
            </a:r>
            <a:r>
              <a:rPr lang="en-US" sz="5416">
                <a:solidFill>
                  <a:srgbClr val="000000"/>
                </a:solidFill>
                <a:latin typeface="Canva Sans"/>
                <a:ea typeface="Canva Sans"/>
                <a:cs typeface="Canva Sans"/>
                <a:sym typeface="Canva Sans"/>
              </a:rPr>
              <a:t>24.83%</a:t>
            </a:r>
          </a:p>
          <a:p>
            <a:pPr algn="ctr">
              <a:lnSpc>
                <a:spcPts val="7583"/>
              </a:lnSpc>
            </a:pPr>
            <a:r>
              <a:rPr lang="en-US" sz="5416" b="1">
                <a:solidFill>
                  <a:srgbClr val="000000"/>
                </a:solidFill>
                <a:latin typeface="Canva Sans Bold"/>
                <a:ea typeface="Canva Sans Bold"/>
                <a:cs typeface="Canva Sans Bold"/>
                <a:sym typeface="Canva Sans Bold"/>
              </a:rPr>
              <a:t>No Show Count-</a:t>
            </a:r>
            <a:r>
              <a:rPr lang="en-US" sz="5416">
                <a:solidFill>
                  <a:srgbClr val="000000"/>
                </a:solidFill>
                <a:latin typeface="Canva Sans"/>
                <a:ea typeface="Canva Sans"/>
                <a:cs typeface="Canva Sans"/>
                <a:sym typeface="Canva Sans"/>
              </a:rPr>
              <a:t>6759</a:t>
            </a:r>
          </a:p>
          <a:p>
            <a:pPr algn="ctr">
              <a:lnSpc>
                <a:spcPts val="7583"/>
              </a:lnSpc>
            </a:pPr>
            <a:r>
              <a:rPr lang="en-US" sz="5416" b="1">
                <a:solidFill>
                  <a:srgbClr val="000000"/>
                </a:solidFill>
                <a:latin typeface="Canva Sans Bold"/>
                <a:ea typeface="Canva Sans Bold"/>
                <a:cs typeface="Canva Sans Bold"/>
                <a:sym typeface="Canva Sans Bold"/>
              </a:rPr>
              <a:t>Occupancy Rate-</a:t>
            </a:r>
            <a:r>
              <a:rPr lang="en-US" sz="5416">
                <a:solidFill>
                  <a:srgbClr val="000000"/>
                </a:solidFill>
                <a:latin typeface="Canva Sans"/>
                <a:ea typeface="Canva Sans"/>
                <a:cs typeface="Canva Sans"/>
                <a:sym typeface="Canva Sans"/>
              </a:rPr>
              <a:t>57.87%</a:t>
            </a:r>
          </a:p>
          <a:p>
            <a:pPr algn="ctr">
              <a:lnSpc>
                <a:spcPts val="7583"/>
              </a:lnSpc>
            </a:pPr>
            <a:endParaRPr lang="en-US" sz="5416">
              <a:solidFill>
                <a:srgbClr val="000000"/>
              </a:solidFill>
              <a:latin typeface="Canva Sans"/>
              <a:ea typeface="Canva Sans"/>
              <a:cs typeface="Canva Sans"/>
              <a:sym typeface="Canva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4EDF4"/>
        </a:solidFill>
        <a:effectLst/>
      </p:bgPr>
    </p:bg>
    <p:spTree>
      <p:nvGrpSpPr>
        <p:cNvPr id="1" name=""/>
        <p:cNvGrpSpPr/>
        <p:nvPr/>
      </p:nvGrpSpPr>
      <p:grpSpPr>
        <a:xfrm>
          <a:off x="0" y="0"/>
          <a:ext cx="0" cy="0"/>
          <a:chOff x="0" y="0"/>
          <a:chExt cx="0" cy="0"/>
        </a:xfrm>
      </p:grpSpPr>
      <p:sp>
        <p:nvSpPr>
          <p:cNvPr id="2" name="Freeform 2"/>
          <p:cNvSpPr/>
          <p:nvPr/>
        </p:nvSpPr>
        <p:spPr>
          <a:xfrm>
            <a:off x="0" y="1224841"/>
            <a:ext cx="18288000" cy="9379863"/>
          </a:xfrm>
          <a:custGeom>
            <a:avLst/>
            <a:gdLst/>
            <a:ahLst/>
            <a:cxnLst/>
            <a:rect l="l" t="t" r="r" b="b"/>
            <a:pathLst>
              <a:path w="18288000" h="9379863">
                <a:moveTo>
                  <a:pt x="0" y="0"/>
                </a:moveTo>
                <a:lnTo>
                  <a:pt x="18288000" y="0"/>
                </a:lnTo>
                <a:lnTo>
                  <a:pt x="18288000" y="9379864"/>
                </a:lnTo>
                <a:lnTo>
                  <a:pt x="0" y="9379864"/>
                </a:lnTo>
                <a:lnTo>
                  <a:pt x="0" y="0"/>
                </a:lnTo>
                <a:close/>
              </a:path>
            </a:pathLst>
          </a:custGeom>
          <a:blipFill>
            <a:blip r:embed="rId2"/>
            <a:stretch>
              <a:fillRect t="-2027" b="-4819"/>
            </a:stretch>
          </a:blipFill>
        </p:spPr>
        <p:txBody>
          <a:bodyPr/>
          <a:lstStyle/>
          <a:p>
            <a:endParaRPr lang="en-IN"/>
          </a:p>
        </p:txBody>
      </p:sp>
      <p:sp>
        <p:nvSpPr>
          <p:cNvPr id="3" name="TextBox 3"/>
          <p:cNvSpPr txBox="1"/>
          <p:nvPr/>
        </p:nvSpPr>
        <p:spPr>
          <a:xfrm>
            <a:off x="6450062" y="141605"/>
            <a:ext cx="6122938" cy="887095"/>
          </a:xfrm>
          <a:prstGeom prst="rect">
            <a:avLst/>
          </a:prstGeom>
        </p:spPr>
        <p:txBody>
          <a:bodyPr wrap="square" lIns="0" tIns="0" rIns="0" bIns="0" rtlCol="0" anchor="t">
            <a:spAutoFit/>
          </a:bodyPr>
          <a:lstStyle/>
          <a:p>
            <a:pPr algn="ctr">
              <a:lnSpc>
                <a:spcPts val="7279"/>
              </a:lnSpc>
            </a:pPr>
            <a:r>
              <a:rPr lang="en-US" sz="5199" b="1" dirty="0">
                <a:solidFill>
                  <a:srgbClr val="000000"/>
                </a:solidFill>
                <a:latin typeface="Canva Sans Bold"/>
                <a:ea typeface="Canva Sans Bold"/>
                <a:cs typeface="Canva Sans Bold"/>
                <a:sym typeface="Canva Sans Bold"/>
              </a:rPr>
              <a:t>Excel Dashboard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4EDF4"/>
        </a:solidFill>
        <a:effectLst/>
      </p:bgPr>
    </p:bg>
    <p:spTree>
      <p:nvGrpSpPr>
        <p:cNvPr id="1" name=""/>
        <p:cNvGrpSpPr/>
        <p:nvPr/>
      </p:nvGrpSpPr>
      <p:grpSpPr>
        <a:xfrm>
          <a:off x="0" y="0"/>
          <a:ext cx="0" cy="0"/>
          <a:chOff x="0" y="0"/>
          <a:chExt cx="0" cy="0"/>
        </a:xfrm>
      </p:grpSpPr>
      <p:sp>
        <p:nvSpPr>
          <p:cNvPr id="2" name="Freeform 2"/>
          <p:cNvSpPr/>
          <p:nvPr/>
        </p:nvSpPr>
        <p:spPr>
          <a:xfrm>
            <a:off x="0" y="1279877"/>
            <a:ext cx="18288000" cy="9007123"/>
          </a:xfrm>
          <a:custGeom>
            <a:avLst/>
            <a:gdLst/>
            <a:ahLst/>
            <a:cxnLst/>
            <a:rect l="l" t="t" r="r" b="b"/>
            <a:pathLst>
              <a:path w="18288000" h="9007123">
                <a:moveTo>
                  <a:pt x="0" y="0"/>
                </a:moveTo>
                <a:lnTo>
                  <a:pt x="18288000" y="0"/>
                </a:lnTo>
                <a:lnTo>
                  <a:pt x="18288000" y="9007123"/>
                </a:lnTo>
                <a:lnTo>
                  <a:pt x="0" y="9007123"/>
                </a:lnTo>
                <a:lnTo>
                  <a:pt x="0" y="0"/>
                </a:lnTo>
                <a:close/>
              </a:path>
            </a:pathLst>
          </a:custGeom>
          <a:blipFill>
            <a:blip r:embed="rId2"/>
            <a:stretch>
              <a:fillRect t="-324" r="-589" b="-10455"/>
            </a:stretch>
          </a:blipFill>
        </p:spPr>
        <p:txBody>
          <a:bodyPr/>
          <a:lstStyle/>
          <a:p>
            <a:endParaRPr lang="en-IN"/>
          </a:p>
        </p:txBody>
      </p:sp>
      <p:sp>
        <p:nvSpPr>
          <p:cNvPr id="3" name="TextBox 3"/>
          <p:cNvSpPr txBox="1"/>
          <p:nvPr/>
        </p:nvSpPr>
        <p:spPr>
          <a:xfrm>
            <a:off x="5661720" y="141605"/>
            <a:ext cx="7216080" cy="887095"/>
          </a:xfrm>
          <a:prstGeom prst="rect">
            <a:avLst/>
          </a:prstGeom>
        </p:spPr>
        <p:txBody>
          <a:bodyPr wrap="square" lIns="0" tIns="0" rIns="0" bIns="0" rtlCol="0" anchor="t">
            <a:spAutoFit/>
          </a:bodyPr>
          <a:lstStyle/>
          <a:p>
            <a:pPr algn="ctr">
              <a:lnSpc>
                <a:spcPts val="7279"/>
              </a:lnSpc>
            </a:pPr>
            <a:r>
              <a:rPr lang="en-US" sz="5199" b="1" dirty="0">
                <a:solidFill>
                  <a:srgbClr val="000000"/>
                </a:solidFill>
                <a:latin typeface="Canva Sans Bold"/>
                <a:ea typeface="Canva Sans Bold"/>
                <a:cs typeface="Canva Sans Bold"/>
                <a:sym typeface="Canva Sans Bold"/>
              </a:rPr>
              <a:t>Power Bi Dashboard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4EDF4"/>
        </a:solidFill>
        <a:effectLst/>
      </p:bgPr>
    </p:bg>
    <p:spTree>
      <p:nvGrpSpPr>
        <p:cNvPr id="1" name=""/>
        <p:cNvGrpSpPr/>
        <p:nvPr/>
      </p:nvGrpSpPr>
      <p:grpSpPr>
        <a:xfrm>
          <a:off x="0" y="0"/>
          <a:ext cx="0" cy="0"/>
          <a:chOff x="0" y="0"/>
          <a:chExt cx="0" cy="0"/>
        </a:xfrm>
      </p:grpSpPr>
      <p:sp>
        <p:nvSpPr>
          <p:cNvPr id="2" name="Freeform 2"/>
          <p:cNvSpPr/>
          <p:nvPr/>
        </p:nvSpPr>
        <p:spPr>
          <a:xfrm>
            <a:off x="0" y="1052140"/>
            <a:ext cx="18288000" cy="9234860"/>
          </a:xfrm>
          <a:custGeom>
            <a:avLst/>
            <a:gdLst/>
            <a:ahLst/>
            <a:cxnLst/>
            <a:rect l="l" t="t" r="r" b="b"/>
            <a:pathLst>
              <a:path w="18288000" h="9234860">
                <a:moveTo>
                  <a:pt x="0" y="0"/>
                </a:moveTo>
                <a:lnTo>
                  <a:pt x="18288000" y="0"/>
                </a:lnTo>
                <a:lnTo>
                  <a:pt x="18288000" y="9234860"/>
                </a:lnTo>
                <a:lnTo>
                  <a:pt x="0" y="9234860"/>
                </a:lnTo>
                <a:lnTo>
                  <a:pt x="0" y="0"/>
                </a:lnTo>
                <a:close/>
              </a:path>
            </a:pathLst>
          </a:custGeom>
          <a:blipFill>
            <a:blip r:embed="rId2"/>
            <a:stretch>
              <a:fillRect t="-487" b="-790"/>
            </a:stretch>
          </a:blipFill>
        </p:spPr>
        <p:txBody>
          <a:bodyPr/>
          <a:lstStyle/>
          <a:p>
            <a:endParaRPr lang="en-IN"/>
          </a:p>
        </p:txBody>
      </p:sp>
      <p:sp>
        <p:nvSpPr>
          <p:cNvPr id="3" name="TextBox 3"/>
          <p:cNvSpPr txBox="1"/>
          <p:nvPr/>
        </p:nvSpPr>
        <p:spPr>
          <a:xfrm>
            <a:off x="6036914" y="141605"/>
            <a:ext cx="6840885" cy="887095"/>
          </a:xfrm>
          <a:prstGeom prst="rect">
            <a:avLst/>
          </a:prstGeom>
        </p:spPr>
        <p:txBody>
          <a:bodyPr wrap="square" lIns="0" tIns="0" rIns="0" bIns="0" rtlCol="0" anchor="t">
            <a:spAutoFit/>
          </a:bodyPr>
          <a:lstStyle/>
          <a:p>
            <a:pPr algn="ctr">
              <a:lnSpc>
                <a:spcPts val="7279"/>
              </a:lnSpc>
            </a:pPr>
            <a:r>
              <a:rPr lang="en-US" sz="5199" b="1" dirty="0">
                <a:solidFill>
                  <a:srgbClr val="000000"/>
                </a:solidFill>
                <a:latin typeface="Canva Sans Bold"/>
                <a:ea typeface="Canva Sans Bold"/>
                <a:cs typeface="Canva Sans Bold"/>
                <a:sym typeface="Canva Sans Bold"/>
              </a:rPr>
              <a:t>Tableau Dashboard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4EDF4"/>
        </a:solidFill>
        <a:effectLst/>
      </p:bgPr>
    </p:bg>
    <p:spTree>
      <p:nvGrpSpPr>
        <p:cNvPr id="1" name=""/>
        <p:cNvGrpSpPr/>
        <p:nvPr/>
      </p:nvGrpSpPr>
      <p:grpSpPr>
        <a:xfrm>
          <a:off x="0" y="0"/>
          <a:ext cx="0" cy="0"/>
          <a:chOff x="0" y="0"/>
          <a:chExt cx="0" cy="0"/>
        </a:xfrm>
      </p:grpSpPr>
      <p:sp>
        <p:nvSpPr>
          <p:cNvPr id="2" name="Freeform 2"/>
          <p:cNvSpPr/>
          <p:nvPr/>
        </p:nvSpPr>
        <p:spPr>
          <a:xfrm>
            <a:off x="1587997" y="2555658"/>
            <a:ext cx="11469380" cy="2166723"/>
          </a:xfrm>
          <a:custGeom>
            <a:avLst/>
            <a:gdLst/>
            <a:ahLst/>
            <a:cxnLst/>
            <a:rect l="l" t="t" r="r" b="b"/>
            <a:pathLst>
              <a:path w="11469380" h="2166723">
                <a:moveTo>
                  <a:pt x="0" y="0"/>
                </a:moveTo>
                <a:lnTo>
                  <a:pt x="11469380" y="0"/>
                </a:lnTo>
                <a:lnTo>
                  <a:pt x="11469380" y="2166724"/>
                </a:lnTo>
                <a:lnTo>
                  <a:pt x="0" y="2166724"/>
                </a:lnTo>
                <a:lnTo>
                  <a:pt x="0" y="0"/>
                </a:lnTo>
                <a:close/>
              </a:path>
            </a:pathLst>
          </a:custGeom>
          <a:blipFill>
            <a:blip r:embed="rId2"/>
            <a:stretch>
              <a:fillRect t="-30708" b="-965"/>
            </a:stretch>
          </a:blipFill>
        </p:spPr>
        <p:txBody>
          <a:bodyPr/>
          <a:lstStyle/>
          <a:p>
            <a:endParaRPr lang="en-IN"/>
          </a:p>
        </p:txBody>
      </p:sp>
      <p:sp>
        <p:nvSpPr>
          <p:cNvPr id="3" name="Freeform 3"/>
          <p:cNvSpPr/>
          <p:nvPr/>
        </p:nvSpPr>
        <p:spPr>
          <a:xfrm>
            <a:off x="1756118" y="6249340"/>
            <a:ext cx="11301259" cy="3008960"/>
          </a:xfrm>
          <a:custGeom>
            <a:avLst/>
            <a:gdLst/>
            <a:ahLst/>
            <a:cxnLst/>
            <a:rect l="l" t="t" r="r" b="b"/>
            <a:pathLst>
              <a:path w="11301259" h="3008960">
                <a:moveTo>
                  <a:pt x="0" y="0"/>
                </a:moveTo>
                <a:lnTo>
                  <a:pt x="11301259" y="0"/>
                </a:lnTo>
                <a:lnTo>
                  <a:pt x="11301259" y="3008960"/>
                </a:lnTo>
                <a:lnTo>
                  <a:pt x="0" y="3008960"/>
                </a:lnTo>
                <a:lnTo>
                  <a:pt x="0" y="0"/>
                </a:lnTo>
                <a:close/>
              </a:path>
            </a:pathLst>
          </a:custGeom>
          <a:blipFill>
            <a:blip r:embed="rId3"/>
            <a:stretch>
              <a:fillRect/>
            </a:stretch>
          </a:blipFill>
        </p:spPr>
        <p:txBody>
          <a:bodyPr/>
          <a:lstStyle/>
          <a:p>
            <a:endParaRPr lang="en-IN"/>
          </a:p>
        </p:txBody>
      </p:sp>
      <p:sp>
        <p:nvSpPr>
          <p:cNvPr id="4" name="TextBox 4"/>
          <p:cNvSpPr txBox="1"/>
          <p:nvPr/>
        </p:nvSpPr>
        <p:spPr>
          <a:xfrm>
            <a:off x="6753409" y="141605"/>
            <a:ext cx="4108698" cy="887095"/>
          </a:xfrm>
          <a:prstGeom prst="rect">
            <a:avLst/>
          </a:prstGeom>
        </p:spPr>
        <p:txBody>
          <a:bodyPr lIns="0" tIns="0" rIns="0" bIns="0" rtlCol="0" anchor="t">
            <a:spAutoFit/>
          </a:bodyPr>
          <a:lstStyle/>
          <a:p>
            <a:pPr algn="ctr">
              <a:lnSpc>
                <a:spcPts val="7279"/>
              </a:lnSpc>
            </a:pPr>
            <a:r>
              <a:rPr lang="en-US" sz="5199" b="1">
                <a:solidFill>
                  <a:srgbClr val="000000"/>
                </a:solidFill>
                <a:latin typeface="Canva Sans Bold"/>
                <a:ea typeface="Canva Sans Bold"/>
                <a:cs typeface="Canva Sans Bold"/>
                <a:sym typeface="Canva Sans Bold"/>
              </a:rPr>
              <a:t>SQL Queries </a:t>
            </a:r>
          </a:p>
        </p:txBody>
      </p:sp>
      <p:sp>
        <p:nvSpPr>
          <p:cNvPr id="5" name="TextBox 5"/>
          <p:cNvSpPr txBox="1"/>
          <p:nvPr/>
        </p:nvSpPr>
        <p:spPr>
          <a:xfrm>
            <a:off x="1587997" y="1793785"/>
            <a:ext cx="3974603" cy="580390"/>
          </a:xfrm>
          <a:prstGeom prst="rect">
            <a:avLst/>
          </a:prstGeom>
        </p:spPr>
        <p:txBody>
          <a:bodyPr wrap="square" lIns="0" tIns="0" rIns="0" bIns="0" rtlCol="0" anchor="t">
            <a:spAutoFit/>
          </a:bodyPr>
          <a:lstStyle/>
          <a:p>
            <a:pPr algn="ctr">
              <a:lnSpc>
                <a:spcPts val="4759"/>
              </a:lnSpc>
            </a:pPr>
            <a:r>
              <a:rPr lang="en-US" sz="3399">
                <a:solidFill>
                  <a:srgbClr val="000000"/>
                </a:solidFill>
                <a:latin typeface="Canva Sans"/>
                <a:ea typeface="Canva Sans"/>
                <a:cs typeface="Canva Sans"/>
                <a:sym typeface="Canva Sans"/>
              </a:rPr>
              <a:t>1.Total  Bookings</a:t>
            </a:r>
          </a:p>
        </p:txBody>
      </p:sp>
      <p:sp>
        <p:nvSpPr>
          <p:cNvPr id="6" name="TextBox 6"/>
          <p:cNvSpPr txBox="1"/>
          <p:nvPr/>
        </p:nvSpPr>
        <p:spPr>
          <a:xfrm>
            <a:off x="1756118" y="5445763"/>
            <a:ext cx="3441353" cy="580390"/>
          </a:xfrm>
          <a:prstGeom prst="rect">
            <a:avLst/>
          </a:prstGeom>
        </p:spPr>
        <p:txBody>
          <a:bodyPr lIns="0" tIns="0" rIns="0" bIns="0" rtlCol="0" anchor="t">
            <a:spAutoFit/>
          </a:bodyPr>
          <a:lstStyle/>
          <a:p>
            <a:pPr algn="ctr">
              <a:lnSpc>
                <a:spcPts val="4759"/>
              </a:lnSpc>
            </a:pPr>
            <a:r>
              <a:rPr lang="en-US" sz="3399" dirty="0">
                <a:solidFill>
                  <a:srgbClr val="000000"/>
                </a:solidFill>
                <a:latin typeface="Canva Sans"/>
                <a:ea typeface="Canva Sans"/>
                <a:cs typeface="Canva Sans"/>
                <a:sym typeface="Canva Sans"/>
              </a:rPr>
              <a:t>2.Total Revenue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4EDF4"/>
        </a:solidFill>
        <a:effectLst/>
      </p:bgPr>
    </p:bg>
    <p:spTree>
      <p:nvGrpSpPr>
        <p:cNvPr id="1" name=""/>
        <p:cNvGrpSpPr/>
        <p:nvPr/>
      </p:nvGrpSpPr>
      <p:grpSpPr>
        <a:xfrm>
          <a:off x="0" y="0"/>
          <a:ext cx="0" cy="0"/>
          <a:chOff x="0" y="0"/>
          <a:chExt cx="0" cy="0"/>
        </a:xfrm>
      </p:grpSpPr>
      <p:sp>
        <p:nvSpPr>
          <p:cNvPr id="2" name="Freeform 2"/>
          <p:cNvSpPr/>
          <p:nvPr/>
        </p:nvSpPr>
        <p:spPr>
          <a:xfrm>
            <a:off x="1363835" y="1333368"/>
            <a:ext cx="11301259" cy="3249112"/>
          </a:xfrm>
          <a:custGeom>
            <a:avLst/>
            <a:gdLst/>
            <a:ahLst/>
            <a:cxnLst/>
            <a:rect l="l" t="t" r="r" b="b"/>
            <a:pathLst>
              <a:path w="11301259" h="3249112">
                <a:moveTo>
                  <a:pt x="0" y="0"/>
                </a:moveTo>
                <a:lnTo>
                  <a:pt x="11301259" y="0"/>
                </a:lnTo>
                <a:lnTo>
                  <a:pt x="11301259" y="3249112"/>
                </a:lnTo>
                <a:lnTo>
                  <a:pt x="0" y="3249112"/>
                </a:lnTo>
                <a:lnTo>
                  <a:pt x="0" y="0"/>
                </a:lnTo>
                <a:close/>
              </a:path>
            </a:pathLst>
          </a:custGeom>
          <a:blipFill>
            <a:blip r:embed="rId2"/>
            <a:stretch>
              <a:fillRect/>
            </a:stretch>
          </a:blipFill>
        </p:spPr>
        <p:txBody>
          <a:bodyPr/>
          <a:lstStyle/>
          <a:p>
            <a:endParaRPr lang="en-IN"/>
          </a:p>
        </p:txBody>
      </p:sp>
      <p:sp>
        <p:nvSpPr>
          <p:cNvPr id="3" name="Freeform 3"/>
          <p:cNvSpPr/>
          <p:nvPr/>
        </p:nvSpPr>
        <p:spPr>
          <a:xfrm>
            <a:off x="1363835" y="7082808"/>
            <a:ext cx="11301259" cy="2175492"/>
          </a:xfrm>
          <a:custGeom>
            <a:avLst/>
            <a:gdLst/>
            <a:ahLst/>
            <a:cxnLst/>
            <a:rect l="l" t="t" r="r" b="b"/>
            <a:pathLst>
              <a:path w="11301259" h="2175492">
                <a:moveTo>
                  <a:pt x="0" y="0"/>
                </a:moveTo>
                <a:lnTo>
                  <a:pt x="11301259" y="0"/>
                </a:lnTo>
                <a:lnTo>
                  <a:pt x="11301259" y="2175492"/>
                </a:lnTo>
                <a:lnTo>
                  <a:pt x="0" y="2175492"/>
                </a:lnTo>
                <a:lnTo>
                  <a:pt x="0" y="0"/>
                </a:lnTo>
                <a:close/>
              </a:path>
            </a:pathLst>
          </a:custGeom>
          <a:blipFill>
            <a:blip r:embed="rId3"/>
            <a:stretch>
              <a:fillRect/>
            </a:stretch>
          </a:blipFill>
        </p:spPr>
        <p:txBody>
          <a:bodyPr/>
          <a:lstStyle/>
          <a:p>
            <a:endParaRPr lang="en-IN"/>
          </a:p>
        </p:txBody>
      </p:sp>
      <p:sp>
        <p:nvSpPr>
          <p:cNvPr id="4" name="TextBox 4"/>
          <p:cNvSpPr txBox="1"/>
          <p:nvPr/>
        </p:nvSpPr>
        <p:spPr>
          <a:xfrm>
            <a:off x="1590791" y="448310"/>
            <a:ext cx="3842296" cy="580390"/>
          </a:xfrm>
          <a:prstGeom prst="rect">
            <a:avLst/>
          </a:prstGeom>
        </p:spPr>
        <p:txBody>
          <a:bodyPr lIns="0" tIns="0" rIns="0" bIns="0" rtlCol="0" anchor="t">
            <a:spAutoFit/>
          </a:bodyPr>
          <a:lstStyle/>
          <a:p>
            <a:pPr algn="ctr">
              <a:lnSpc>
                <a:spcPts val="4759"/>
              </a:lnSpc>
            </a:pPr>
            <a:r>
              <a:rPr lang="en-US" sz="3399">
                <a:solidFill>
                  <a:srgbClr val="000000"/>
                </a:solidFill>
                <a:latin typeface="Canva Sans"/>
                <a:ea typeface="Canva Sans"/>
                <a:cs typeface="Canva Sans"/>
                <a:sym typeface="Canva Sans"/>
              </a:rPr>
              <a:t>3.Occupancy Rate </a:t>
            </a:r>
          </a:p>
        </p:txBody>
      </p:sp>
      <p:sp>
        <p:nvSpPr>
          <p:cNvPr id="5" name="TextBox 5"/>
          <p:cNvSpPr txBox="1"/>
          <p:nvPr/>
        </p:nvSpPr>
        <p:spPr>
          <a:xfrm>
            <a:off x="1590791" y="5912755"/>
            <a:ext cx="4122093" cy="580390"/>
          </a:xfrm>
          <a:prstGeom prst="rect">
            <a:avLst/>
          </a:prstGeom>
        </p:spPr>
        <p:txBody>
          <a:bodyPr lIns="0" tIns="0" rIns="0" bIns="0" rtlCol="0" anchor="t">
            <a:spAutoFit/>
          </a:bodyPr>
          <a:lstStyle/>
          <a:p>
            <a:pPr algn="ctr">
              <a:lnSpc>
                <a:spcPts val="4759"/>
              </a:lnSpc>
            </a:pPr>
            <a:r>
              <a:rPr lang="en-US" sz="3399">
                <a:solidFill>
                  <a:srgbClr val="000000"/>
                </a:solidFill>
                <a:latin typeface="Canva Sans"/>
                <a:ea typeface="Canva Sans"/>
                <a:cs typeface="Canva Sans"/>
                <a:sym typeface="Canva Sans"/>
              </a:rPr>
              <a:t>4.Cancellation Rate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D4EDF4"/>
        </a:solidFill>
        <a:effectLst/>
      </p:bgPr>
    </p:bg>
    <p:spTree>
      <p:nvGrpSpPr>
        <p:cNvPr id="1" name=""/>
        <p:cNvGrpSpPr/>
        <p:nvPr/>
      </p:nvGrpSpPr>
      <p:grpSpPr>
        <a:xfrm>
          <a:off x="0" y="0"/>
          <a:ext cx="0" cy="0"/>
          <a:chOff x="0" y="0"/>
          <a:chExt cx="0" cy="0"/>
        </a:xfrm>
      </p:grpSpPr>
      <p:sp>
        <p:nvSpPr>
          <p:cNvPr id="2" name="Freeform 2"/>
          <p:cNvSpPr/>
          <p:nvPr/>
        </p:nvSpPr>
        <p:spPr>
          <a:xfrm>
            <a:off x="0" y="89591"/>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3311" t="-6337" b="-16105"/>
            </a:stretch>
          </a:blipFill>
        </p:spPr>
        <p:txBody>
          <a:bodyPr/>
          <a:lstStyle/>
          <a:p>
            <a:endParaRPr lang="en-IN"/>
          </a:p>
        </p:txBody>
      </p:sp>
      <p:sp>
        <p:nvSpPr>
          <p:cNvPr id="3" name="TextBox 3"/>
          <p:cNvSpPr txBox="1"/>
          <p:nvPr/>
        </p:nvSpPr>
        <p:spPr>
          <a:xfrm>
            <a:off x="7039501" y="2763131"/>
            <a:ext cx="10728473" cy="5263991"/>
          </a:xfrm>
          <a:prstGeom prst="rect">
            <a:avLst/>
          </a:prstGeom>
        </p:spPr>
        <p:txBody>
          <a:bodyPr lIns="0" tIns="0" rIns="0" bIns="0" rtlCol="0" anchor="t">
            <a:spAutoFit/>
          </a:bodyPr>
          <a:lstStyle/>
          <a:p>
            <a:pPr marL="646243" lvl="1" indent="-323121" algn="ctr">
              <a:lnSpc>
                <a:spcPts val="4190"/>
              </a:lnSpc>
              <a:buFont typeface="Arial"/>
              <a:buChar char="•"/>
            </a:pPr>
            <a:r>
              <a:rPr lang="en-US" sz="2993">
                <a:solidFill>
                  <a:srgbClr val="000000"/>
                </a:solidFill>
                <a:latin typeface="Canva Sans"/>
                <a:ea typeface="Canva Sans"/>
                <a:cs typeface="Canva Sans"/>
                <a:sym typeface="Canva Sans"/>
              </a:rPr>
              <a:t>Luxury hotels earn more revenue but are not always fully occupied.</a:t>
            </a:r>
          </a:p>
          <a:p>
            <a:pPr marL="646243" lvl="1" indent="-323121" algn="ctr">
              <a:lnSpc>
                <a:spcPts val="4190"/>
              </a:lnSpc>
              <a:buFont typeface="Arial"/>
              <a:buChar char="•"/>
            </a:pPr>
            <a:r>
              <a:rPr lang="en-US" sz="2993">
                <a:solidFill>
                  <a:srgbClr val="000000"/>
                </a:solidFill>
                <a:latin typeface="Canva Sans"/>
                <a:ea typeface="Canva Sans"/>
                <a:cs typeface="Canva Sans"/>
                <a:sym typeface="Canva Sans"/>
              </a:rPr>
              <a:t>Weekends have higher occupancy compared to weekdays.</a:t>
            </a:r>
          </a:p>
          <a:p>
            <a:pPr marL="646243" lvl="1" indent="-323121" algn="ctr">
              <a:lnSpc>
                <a:spcPts val="4190"/>
              </a:lnSpc>
              <a:buFont typeface="Arial"/>
              <a:buChar char="•"/>
            </a:pPr>
            <a:r>
              <a:rPr lang="en-US" sz="2993">
                <a:solidFill>
                  <a:srgbClr val="000000"/>
                </a:solidFill>
                <a:latin typeface="Canva Sans"/>
                <a:ea typeface="Canva Sans"/>
                <a:cs typeface="Canva Sans"/>
                <a:sym typeface="Canva Sans"/>
              </a:rPr>
              <a:t>Some hotels have high capacity but low usage.</a:t>
            </a:r>
          </a:p>
          <a:p>
            <a:pPr marL="646243" lvl="1" indent="-323121" algn="ctr">
              <a:lnSpc>
                <a:spcPts val="4190"/>
              </a:lnSpc>
              <a:buFont typeface="Arial"/>
              <a:buChar char="•"/>
            </a:pPr>
            <a:r>
              <a:rPr lang="en-US" sz="2993">
                <a:solidFill>
                  <a:srgbClr val="000000"/>
                </a:solidFill>
                <a:latin typeface="Canva Sans"/>
                <a:ea typeface="Canva Sans"/>
                <a:cs typeface="Canva Sans"/>
                <a:sym typeface="Canva Sans"/>
              </a:rPr>
              <a:t>Cancellations and no-shows reduce actual revenue.</a:t>
            </a:r>
          </a:p>
          <a:p>
            <a:pPr marL="646243" lvl="1" indent="-323121" algn="ctr">
              <a:lnSpc>
                <a:spcPts val="4190"/>
              </a:lnSpc>
              <a:buFont typeface="Arial"/>
              <a:buChar char="•"/>
            </a:pPr>
            <a:r>
              <a:rPr lang="en-US" sz="2993">
                <a:solidFill>
                  <a:srgbClr val="000000"/>
                </a:solidFill>
                <a:latin typeface="Canva Sans"/>
                <a:ea typeface="Canva Sans"/>
                <a:cs typeface="Canva Sans"/>
                <a:sym typeface="Canva Sans"/>
              </a:rPr>
              <a:t>Premium and Presidential rooms earn more per booking but have fewer bookings.</a:t>
            </a:r>
          </a:p>
          <a:p>
            <a:pPr marL="646243" lvl="1" indent="-323121" algn="ctr">
              <a:lnSpc>
                <a:spcPts val="4190"/>
              </a:lnSpc>
              <a:buFont typeface="Arial"/>
              <a:buChar char="•"/>
            </a:pPr>
            <a:r>
              <a:rPr lang="en-US" sz="2993">
                <a:solidFill>
                  <a:srgbClr val="000000"/>
                </a:solidFill>
                <a:latin typeface="Canva Sans"/>
                <a:ea typeface="Canva Sans"/>
                <a:cs typeface="Canva Sans"/>
                <a:sym typeface="Canva Sans"/>
              </a:rPr>
              <a:t>Most bookings come from online platforms.</a:t>
            </a:r>
          </a:p>
          <a:p>
            <a:pPr algn="ctr">
              <a:lnSpc>
                <a:spcPts val="4190"/>
              </a:lnSpc>
            </a:pPr>
            <a:endParaRPr lang="en-US" sz="2993">
              <a:solidFill>
                <a:srgbClr val="000000"/>
              </a:solidFill>
              <a:latin typeface="Canva Sans"/>
              <a:ea typeface="Canva Sans"/>
              <a:cs typeface="Canva Sans"/>
              <a:sym typeface="Canva Sans"/>
            </a:endParaRPr>
          </a:p>
        </p:txBody>
      </p:sp>
      <p:sp>
        <p:nvSpPr>
          <p:cNvPr id="4" name="TextBox 4"/>
          <p:cNvSpPr txBox="1"/>
          <p:nvPr/>
        </p:nvSpPr>
        <p:spPr>
          <a:xfrm>
            <a:off x="7039501" y="141605"/>
            <a:ext cx="4390499" cy="887095"/>
          </a:xfrm>
          <a:prstGeom prst="rect">
            <a:avLst/>
          </a:prstGeom>
        </p:spPr>
        <p:txBody>
          <a:bodyPr wrap="square" lIns="0" tIns="0" rIns="0" bIns="0" rtlCol="0" anchor="t">
            <a:spAutoFit/>
          </a:bodyPr>
          <a:lstStyle/>
          <a:p>
            <a:pPr algn="ctr">
              <a:lnSpc>
                <a:spcPts val="7279"/>
              </a:lnSpc>
            </a:pPr>
            <a:r>
              <a:rPr lang="en-US" sz="5199" b="1" dirty="0">
                <a:solidFill>
                  <a:srgbClr val="000000"/>
                </a:solidFill>
                <a:latin typeface="Canva Sans Bold"/>
                <a:ea typeface="Canva Sans Bold"/>
                <a:cs typeface="Canva Sans Bold"/>
                <a:sym typeface="Canva Sans Bold"/>
              </a:rPr>
              <a:t>Key Insights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D4EDF4"/>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212" b="-10305"/>
            </a:stretch>
          </a:blipFill>
        </p:spPr>
        <p:txBody>
          <a:bodyPr/>
          <a:lstStyle/>
          <a:p>
            <a:endParaRPr lang="en-IN"/>
          </a:p>
        </p:txBody>
      </p:sp>
      <p:sp>
        <p:nvSpPr>
          <p:cNvPr id="3" name="TextBox 3"/>
          <p:cNvSpPr txBox="1"/>
          <p:nvPr/>
        </p:nvSpPr>
        <p:spPr>
          <a:xfrm>
            <a:off x="6116686" y="141605"/>
            <a:ext cx="6380113" cy="887095"/>
          </a:xfrm>
          <a:prstGeom prst="rect">
            <a:avLst/>
          </a:prstGeom>
        </p:spPr>
        <p:txBody>
          <a:bodyPr wrap="square" lIns="0" tIns="0" rIns="0" bIns="0" rtlCol="0" anchor="t">
            <a:spAutoFit/>
          </a:bodyPr>
          <a:lstStyle/>
          <a:p>
            <a:pPr algn="ctr">
              <a:lnSpc>
                <a:spcPts val="7279"/>
              </a:lnSpc>
            </a:pPr>
            <a:r>
              <a:rPr lang="en-US" sz="5199" b="1" dirty="0">
                <a:solidFill>
                  <a:srgbClr val="000000"/>
                </a:solidFill>
                <a:latin typeface="Canva Sans Bold"/>
                <a:ea typeface="Canva Sans Bold"/>
                <a:cs typeface="Canva Sans Bold"/>
                <a:sym typeface="Canva Sans Bold"/>
              </a:rPr>
              <a:t>Recommendations</a:t>
            </a:r>
          </a:p>
        </p:txBody>
      </p:sp>
      <p:sp>
        <p:nvSpPr>
          <p:cNvPr id="4" name="TextBox 4"/>
          <p:cNvSpPr txBox="1"/>
          <p:nvPr/>
        </p:nvSpPr>
        <p:spPr>
          <a:xfrm>
            <a:off x="8000141" y="2102008"/>
            <a:ext cx="8342343" cy="6581140"/>
          </a:xfrm>
          <a:prstGeom prst="rect">
            <a:avLst/>
          </a:prstGeom>
        </p:spPr>
        <p:txBody>
          <a:bodyPr lIns="0" tIns="0" rIns="0" bIns="0" rtlCol="0" anchor="t">
            <a:spAutoFit/>
          </a:bodyPr>
          <a:lstStyle/>
          <a:p>
            <a:pPr marL="734059" lvl="1" indent="-367030" algn="ctr">
              <a:lnSpc>
                <a:spcPts val="4759"/>
              </a:lnSpc>
              <a:buFont typeface="Arial"/>
              <a:buChar char="•"/>
            </a:pPr>
            <a:r>
              <a:rPr lang="en-US" sz="3399">
                <a:solidFill>
                  <a:srgbClr val="000000"/>
                </a:solidFill>
                <a:latin typeface="Canva Sans"/>
                <a:ea typeface="Canva Sans"/>
                <a:cs typeface="Canva Sans"/>
                <a:sym typeface="Canva Sans"/>
              </a:rPr>
              <a:t>Apply dynamic pricing on weekends to maximize revenue.</a:t>
            </a:r>
          </a:p>
          <a:p>
            <a:pPr marL="734059" lvl="1" indent="-367030" algn="ctr">
              <a:lnSpc>
                <a:spcPts val="4759"/>
              </a:lnSpc>
              <a:buFont typeface="Arial"/>
              <a:buChar char="•"/>
            </a:pPr>
            <a:r>
              <a:rPr lang="en-US" sz="3399">
                <a:solidFill>
                  <a:srgbClr val="000000"/>
                </a:solidFill>
                <a:latin typeface="Canva Sans"/>
                <a:ea typeface="Canva Sans"/>
                <a:cs typeface="Canva Sans"/>
                <a:sym typeface="Canva Sans"/>
              </a:rPr>
              <a:t>Offer weekday discounts to balance occupancy.</a:t>
            </a:r>
          </a:p>
          <a:p>
            <a:pPr marL="734059" lvl="1" indent="-367030" algn="ctr">
              <a:lnSpc>
                <a:spcPts val="4759"/>
              </a:lnSpc>
              <a:buFont typeface="Arial"/>
              <a:buChar char="•"/>
            </a:pPr>
            <a:r>
              <a:rPr lang="en-US" sz="3399">
                <a:solidFill>
                  <a:srgbClr val="000000"/>
                </a:solidFill>
                <a:latin typeface="Canva Sans"/>
                <a:ea typeface="Canva Sans"/>
                <a:cs typeface="Canva Sans"/>
                <a:sym typeface="Canva Sans"/>
              </a:rPr>
              <a:t>Implement stricter cancellation / advance payment policies.</a:t>
            </a:r>
          </a:p>
          <a:p>
            <a:pPr marL="734059" lvl="1" indent="-367030" algn="ctr">
              <a:lnSpc>
                <a:spcPts val="4759"/>
              </a:lnSpc>
              <a:buFont typeface="Arial"/>
              <a:buChar char="•"/>
            </a:pPr>
            <a:r>
              <a:rPr lang="en-US" sz="3399">
                <a:solidFill>
                  <a:srgbClr val="000000"/>
                </a:solidFill>
                <a:latin typeface="Canva Sans"/>
                <a:ea typeface="Canva Sans"/>
                <a:cs typeface="Canva Sans"/>
                <a:sym typeface="Canva Sans"/>
              </a:rPr>
              <a:t>Promote low-performing properties with targeted marketing.</a:t>
            </a:r>
          </a:p>
          <a:p>
            <a:pPr marL="734059" lvl="1" indent="-367030" algn="ctr">
              <a:lnSpc>
                <a:spcPts val="4759"/>
              </a:lnSpc>
              <a:buFont typeface="Arial"/>
              <a:buChar char="•"/>
            </a:pPr>
            <a:r>
              <a:rPr lang="en-US" sz="3399">
                <a:solidFill>
                  <a:srgbClr val="000000"/>
                </a:solidFill>
                <a:latin typeface="Canva Sans"/>
                <a:ea typeface="Canva Sans"/>
                <a:cs typeface="Canva Sans"/>
                <a:sym typeface="Canva Sans"/>
              </a:rPr>
              <a:t>Improve ratings to boost repeat bookings.</a:t>
            </a:r>
          </a:p>
          <a:p>
            <a:pPr algn="ctr">
              <a:lnSpc>
                <a:spcPts val="4759"/>
              </a:lnSpc>
            </a:pPr>
            <a:endParaRPr lang="en-US" sz="3399">
              <a:solidFill>
                <a:srgbClr val="000000"/>
              </a:solidFill>
              <a:latin typeface="Canva Sans"/>
              <a:ea typeface="Canva Sans"/>
              <a:cs typeface="Canva Sans"/>
              <a:sym typeface="Canva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D4EDF4"/>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en-IN" dirty="0"/>
          </a:p>
        </p:txBody>
      </p:sp>
      <p:sp>
        <p:nvSpPr>
          <p:cNvPr id="3" name="TextBox 3"/>
          <p:cNvSpPr txBox="1"/>
          <p:nvPr/>
        </p:nvSpPr>
        <p:spPr>
          <a:xfrm>
            <a:off x="7331794" y="141605"/>
            <a:ext cx="4022006" cy="887095"/>
          </a:xfrm>
          <a:prstGeom prst="rect">
            <a:avLst/>
          </a:prstGeom>
        </p:spPr>
        <p:txBody>
          <a:bodyPr wrap="square" lIns="0" tIns="0" rIns="0" bIns="0" rtlCol="0" anchor="t">
            <a:spAutoFit/>
          </a:bodyPr>
          <a:lstStyle/>
          <a:p>
            <a:pPr algn="ctr">
              <a:lnSpc>
                <a:spcPts val="7279"/>
              </a:lnSpc>
            </a:pPr>
            <a:r>
              <a:rPr lang="en-US" sz="5199" b="1" dirty="0">
                <a:solidFill>
                  <a:srgbClr val="000000"/>
                </a:solidFill>
                <a:latin typeface="Canva Sans Bold"/>
                <a:ea typeface="Canva Sans Bold"/>
                <a:cs typeface="Canva Sans Bold"/>
                <a:sym typeface="Canva Sans Bold"/>
              </a:rPr>
              <a:t>Conclusion</a:t>
            </a:r>
          </a:p>
        </p:txBody>
      </p:sp>
      <p:sp>
        <p:nvSpPr>
          <p:cNvPr id="4" name="TextBox 4"/>
          <p:cNvSpPr txBox="1"/>
          <p:nvPr/>
        </p:nvSpPr>
        <p:spPr>
          <a:xfrm>
            <a:off x="7331794" y="1638300"/>
            <a:ext cx="10050060" cy="4180840"/>
          </a:xfrm>
          <a:prstGeom prst="rect">
            <a:avLst/>
          </a:prstGeom>
        </p:spPr>
        <p:txBody>
          <a:bodyPr lIns="0" tIns="0" rIns="0" bIns="0" rtlCol="0" anchor="t">
            <a:spAutoFit/>
          </a:bodyPr>
          <a:lstStyle/>
          <a:p>
            <a:pPr algn="ctr">
              <a:lnSpc>
                <a:spcPts val="4759"/>
              </a:lnSpc>
            </a:pPr>
            <a:r>
              <a:rPr lang="en-US" sz="3399" dirty="0">
                <a:solidFill>
                  <a:srgbClr val="000000"/>
                </a:solidFill>
                <a:latin typeface="Canva Sans"/>
                <a:ea typeface="Canva Sans"/>
                <a:cs typeface="Canva Sans"/>
                <a:sym typeface="Canva Sans"/>
              </a:rPr>
              <a:t>This project shows how data analytics converts hotel booking data into actionable insights. By analyzing revenue, occupancy, and cancellations, we identified key gaps and improvement areas. The dashboard supports smarter decisions to optimize revenue, occupancy, and overall efficiency.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412</Words>
  <Application>Microsoft Office PowerPoint</Application>
  <PresentationFormat>Custom</PresentationFormat>
  <Paragraphs>71</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Canva Sans Bold</vt:lpstr>
      <vt:lpstr>Calibri</vt:lpstr>
      <vt:lpstr>Canva Sans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Hospitality Analysis</dc:title>
  <cp:lastModifiedBy>Deepali Sudake</cp:lastModifiedBy>
  <cp:revision>2</cp:revision>
  <dcterms:created xsi:type="dcterms:W3CDTF">2006-08-16T00:00:00Z</dcterms:created>
  <dcterms:modified xsi:type="dcterms:W3CDTF">2026-02-13T11:56:23Z</dcterms:modified>
  <dc:identifier>DAHBHjA62oY</dc:identifier>
</cp:coreProperties>
</file>